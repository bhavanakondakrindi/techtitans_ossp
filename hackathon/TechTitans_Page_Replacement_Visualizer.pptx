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f0773d2-0d2d-43bf-74c5-d0887af707d0}">
          <p14:sldIdLst>
            <p14:sldId id="256"/>
          </p14:sldIdLst>
        </p14:section>
        <p14:section name="Concepts" id="{ed9e3f0f-9aa0-1116-aa9a-db247051318f}">
          <p14:sldIdLst>
            <p14:sldId id="257"/>
            <p14:sldId id="258"/>
          </p14:sldIdLst>
        </p14:section>
        <p14:section name="Design and Implementation" id="{d336b669-ef79-349d-8507-1a635b9aed4b}">
          <p14:sldIdLst>
            <p14:sldId id="259"/>
            <p14:sldId id="260"/>
            <p14:sldId id="261"/>
          </p14:sldIdLst>
        </p14:section>
        <p14:section name="Validation and Results" id="{8b73c212-c503-c731-f227-d1ee4b8c0364}">
          <p14:sldIdLst>
            <p14:sldId id="262"/>
            <p14:sldId id="263"/>
          </p14:sldIdLst>
        </p14:section>
        <p14:section name="Wrap-up" id="{b1b25a64-c28a-cd65-0c72-069184934487}">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TechTitans and the project: a C simulator that visualizes how an operating system decides which memory page to evict when frames are full. Mention the three members and their roles from the project report (Siri: FIFO and LRU; Bhavana: Optimal and testing; HimaBindu: visualization and documentation). The three algorithms on the right are what the program compares.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memory lets a process use more memory than physical RAM: memory is split into fixed-size pages, and most of them wait on disk. RAM is divided into frames, and each frame holds exactly one page. When a program asks for a page that is not in any frame, that is a page fault. If all frames are full, the operating system must evict a victim page before loading the new one. Which page it chooses changes how many faults happen later, which is why different replacement algorithms must be compared on the same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card lists the five objectives. The right card is how the simulator meets them: it is a command-line program in C; the user gives a frame count and a reference string; after every request it prints the frame contents, marks the request as a HIT or a FAULT and names the evicted page; and at the end it prints a comparison table and bar chart. This makes the operating-systems concepts easier to understand because students can see every decision, not just a final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workflow top to bottom: the user supplies a frame count and reference string through flags or interactive mode; input validation rejects frame counts outside 1 to 10 and empty reference strings; then the simulation stage runs FIFO, LRU and Optimal one after another, each independently, on the same reference string and frame count. simulate() records a snapshot of the frames at every step plus whether it was a hit or fault, which slot changed and which page was evicted. That record feeds the step table, the hit and fault statistics (hits equal references minus faults), and the final comparison with a bar chart in the terminal. The right card names the real functions in pagesim.c.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FIFO replaces the page that entered memory earliest; it is simple but can suffer Belady's Anomaly. LRU replaces the page that has not been used for the longest time; it uses recent history and does not suffer the anomaly. Optimal replaces the page whose next use is farthest in the future, or that will never be used again; it gives the fewest possible faults, but it needs knowledge of future references, so it is only a theoretical benchmark and cannot be used in a real operating system. The three can choose different victim pages for the same situation, which is exactly what the simulator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technologies that are actually in the repository are listed: C compiled with gcc, a Linux terminal, a Makefile with build, test, demo and clean targets, POSIX getopt for command-line flags, ANSI colors for the visualization, and a bash script for the automated tests. On the implementation side: input handling and validation; frame management, where each frame stores its page, load time and last-use time; replacement logic where the three algorithms share the same bookkeeping and differ only in how the victim frame is chosen; hit, fault and hit-rate calculation, where hit rate is hits divided by total references; and the terminal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script tests/run_tests.sh feeds known inputs to the program and compares the FIFO, LRU and Optimal fault counts with expected values. The left card lists what it covers: cold-start faults, hits, replacement with full frames, different frame counts and reference strings including comma-separated input, invalid input such as zero frames, 99 frames or a bad reference string, and correct statistics. One test runs random inputs and checks that Optimal never has more faults than FIFO or LRU. Running make test gives 12 passed and 0 failed, which we verified on the project source. Hits and hit rate are derived from the fault count rather than asserted separately. We will now demonstrate the test cases live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card, Input A: the default textbook string with 3 frames. FIFO has 15 faults, LRU 12 and Optimal 9, which gives hit rates of 25, 40 and 55 percent. Right card, Input B: the classic string 1 2 3 4 1 2 5 1 2 3 4 5. With 3 frames FIFO has 9 faults, but with 4 frames it has 10: more memory produced more faults, which is Belady's Anomaly. On this same string LRU and Optimal improve when a frame is added (LRU 10 to 8, Optimal 7 to 6) because they do not suffer from the anomaly. All numbers are actual program output, and each result is labelled with the input it used. Run the Belady demo live with ./pagesim -q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the tool turns an abstract textbook topic into something students can watch and compare, which improves understanding of virtual memory, shows how replacement policies behave, enables practical comparison of strategies, and supports learning through interactive simulation. Limitations, stated honestly: it simulates page replacement and never touches real RAM or page tables; Optimal needs future knowledge so it is only a benchmark; and results depend on the chosen reference string and frame count (the code also has fixed limits of 200 references and 10 frames). Future enhancements, shown with a dashed border because they are not built yet: the Clock or Second Chance algorithm, more detailed eviction explanations, additional automated tests, and enhanced terminal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chain: the problem is choosing a victim page when frames are full; our solution is a C simulator for Linux that visualizes every step; it implements FIFO, LRU and Optimal and compares them on identical input; and simulation, automated testing (12 of 12 passing) and performance comparison are what make the results trustworthy. Thank the audience, invite questions, and point to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766560" cy="22860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566160"/>
            <a:ext cx="676656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bg2"/>
                </a:solidFill>
              </a:rPr>
              <a:t>TechTitans  ·  Virtual Memory Page Replacement Visualizer</a:t>
            </a:r>
            <a:endParaRPr lang="en-US" sz="10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tallurihimabindu342-design/TechTitans_OSS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685800"/>
            <a:ext cx="5486400" cy="274320"/>
          </a:xfrm>
          <a:prstGeom prst="rect">
            <a:avLst/>
          </a:prstGeom>
          <a:noFill/>
          <a:ln/>
        </p:spPr>
        <p:txBody>
          <a:bodyPr wrap="square" lIns="0" tIns="0" rIns="0" bIns="0" rtlCol="0" anchor="t"/>
          <a:lstStyle/>
          <a:p>
            <a:pPr indent="0" marL="0">
              <a:buNone/>
            </a:pPr>
            <a:r>
              <a:rPr lang="en-US" sz="1400" b="1" spc="400" kern="0" dirty="0">
                <a:solidFill>
                  <a:schemeClr val="accent1"/>
                </a:solidFill>
              </a:rPr>
              <a:t>TEAM TECHTITANS</a:t>
            </a:r>
            <a:endParaRPr lang="en-US" sz="1400" dirty="0"/>
          </a:p>
        </p:txBody>
      </p:sp>
      <p:sp>
        <p:nvSpPr>
          <p:cNvPr id="3" name="Text 0"/>
          <p:cNvSpPr/>
          <p:nvPr>
            <p:ph idx="100" type="title" hasCustomPrompt="1"/>
          </p:nvPr>
        </p:nvSpPr>
        <p:spPr>
          <a:xfrm>
            <a:off x="548640" y="1143000"/>
            <a:ext cx="6766560" cy="2286000"/>
          </a:xfrm>
          <a:prstGeom prst="rect">
            <a:avLst/>
          </a:prstGeom>
          <a:noFill/>
          <a:ln/>
        </p:spPr>
        <p:txBody>
          <a:bodyPr wrap="square" lIns="0" tIns="0" rIns="0" bIns="0" rtlCol="0" anchor="t"/>
          <a:lstStyle/>
          <a:p>
            <a:pPr algn="l" indent="0" marL="0">
              <a:buNone/>
            </a:pPr>
            <a:r>
              <a:rPr lang="en-US" sz="4400" b="1" dirty="0">
                <a:solidFill>
                  <a:schemeClr val="bg1"/>
                </a:solidFill>
              </a:rPr>
              <a:t>Virtual Memory Page Replacement Visualizer</a:t>
            </a:r>
            <a:endParaRPr lang="en-US" sz="4400" dirty="0"/>
          </a:p>
        </p:txBody>
      </p:sp>
      <p:sp>
        <p:nvSpPr>
          <p:cNvPr id="4" name="Text 0"/>
          <p:cNvSpPr/>
          <p:nvPr>
            <p:ph idx="101" type="body" hasCustomPrompt="1"/>
          </p:nvPr>
        </p:nvSpPr>
        <p:spPr>
          <a:xfrm>
            <a:off x="548640" y="3566160"/>
            <a:ext cx="6766560" cy="1097280"/>
          </a:xfrm>
          <a:prstGeom prst="rect">
            <a:avLst/>
          </a:prstGeom>
          <a:noFill/>
          <a:ln/>
        </p:spPr>
        <p:txBody>
          <a:bodyPr wrap="square" lIns="0" tIns="0" rIns="0" bIns="0" rtlCol="0" anchor="t"/>
          <a:lstStyle/>
          <a:p>
            <a:pPr indent="0" marL="0">
              <a:buNone/>
            </a:pPr>
            <a:r>
              <a:rPr lang="en-US" sz="1800" b="1" dirty="0">
                <a:solidFill>
                  <a:schemeClr val="bg1"/>
                </a:solidFill>
              </a:rPr>
              <a:t>Operating Systems and System Programming Project</a:t>
            </a:r>
            <a:endParaRPr lang="en-US" sz="1800" dirty="0"/>
          </a:p>
          <a:p>
            <a:pPr indent="0" marL="0">
              <a:buNone/>
            </a:pPr>
            <a:r>
              <a:rPr lang="en-US" sz="1600" dirty="0">
                <a:solidFill>
                  <a:schemeClr val="bg2"/>
                </a:solidFill>
              </a:rPr>
              <a:t>A C simulator for Linux</a:t>
            </a:r>
            <a:endParaRPr lang="en-US" sz="1800" dirty="0"/>
          </a:p>
        </p:txBody>
      </p:sp>
      <p:sp>
        <p:nvSpPr>
          <p:cNvPr id="5" name="member-2"/>
          <p:cNvSpPr txBox="1"/>
          <p:nvPr/>
        </p:nvSpPr>
        <p:spPr>
          <a:xfrm>
            <a:off x="548640" y="5029200"/>
            <a:ext cx="2240280" cy="640080"/>
          </a:xfrm>
          <a:prstGeom prst="rect">
            <a:avLst/>
          </a:prstGeom>
          <a:noFill/>
          <a:ln/>
        </p:spPr>
        <p:txBody>
          <a:bodyPr wrap="square" lIns="0" tIns="0" rIns="0" bIns="0" rtlCol="0" anchor="t"/>
          <a:lstStyle/>
          <a:p>
            <a:pPr indent="0" marL="0">
              <a:buNone/>
            </a:pPr>
            <a:r>
              <a:rPr lang="en-US" sz="1500" b="1" dirty="0">
                <a:solidFill>
                  <a:schemeClr val="bg1"/>
                </a:solidFill>
              </a:rPr>
              <a:t>Billakanti Siri</a:t>
            </a:r>
            <a:endParaRPr lang="en-US" sz="1400" dirty="0"/>
          </a:p>
          <a:p>
            <a:pPr indent="0" marL="0">
              <a:buNone/>
            </a:pPr>
            <a:r>
              <a:rPr lang="en-US" sz="1200" dirty="0">
                <a:solidFill>
                  <a:schemeClr val="accent1"/>
                </a:solidFill>
              </a:rPr>
              <a:t>2520030601</a:t>
            </a:r>
            <a:endParaRPr lang="en-US" sz="1400" dirty="0"/>
          </a:p>
        </p:txBody>
      </p:sp>
      <p:sp>
        <p:nvSpPr>
          <p:cNvPr id="6" name="member-4"/>
          <p:cNvSpPr txBox="1"/>
          <p:nvPr/>
        </p:nvSpPr>
        <p:spPr>
          <a:xfrm>
            <a:off x="2880360" y="5029200"/>
            <a:ext cx="2240280" cy="640080"/>
          </a:xfrm>
          <a:prstGeom prst="rect">
            <a:avLst/>
          </a:prstGeom>
          <a:noFill/>
          <a:ln/>
        </p:spPr>
        <p:txBody>
          <a:bodyPr wrap="square" lIns="0" tIns="0" rIns="0" bIns="0" rtlCol="0" anchor="t"/>
          <a:lstStyle/>
          <a:p>
            <a:pPr indent="0" marL="0">
              <a:buNone/>
            </a:pPr>
            <a:r>
              <a:rPr lang="en-US" sz="1500" b="1" dirty="0">
                <a:solidFill>
                  <a:schemeClr val="bg1"/>
                </a:solidFill>
              </a:rPr>
              <a:t>Bhavana Kondakrindi</a:t>
            </a:r>
            <a:endParaRPr lang="en-US" sz="1400" dirty="0"/>
          </a:p>
          <a:p>
            <a:pPr indent="0" marL="0">
              <a:buNone/>
            </a:pPr>
            <a:r>
              <a:rPr lang="en-US" sz="1200" dirty="0">
                <a:solidFill>
                  <a:schemeClr val="accent1"/>
                </a:solidFill>
              </a:rPr>
              <a:t>2520030082</a:t>
            </a:r>
            <a:endParaRPr lang="en-US" sz="1400" dirty="0"/>
          </a:p>
        </p:txBody>
      </p:sp>
      <p:sp>
        <p:nvSpPr>
          <p:cNvPr id="7" name="member-6"/>
          <p:cNvSpPr txBox="1"/>
          <p:nvPr/>
        </p:nvSpPr>
        <p:spPr>
          <a:xfrm>
            <a:off x="5212080" y="5029200"/>
            <a:ext cx="2240280" cy="640080"/>
          </a:xfrm>
          <a:prstGeom prst="rect">
            <a:avLst/>
          </a:prstGeom>
          <a:noFill/>
          <a:ln/>
        </p:spPr>
        <p:txBody>
          <a:bodyPr wrap="square" lIns="0" tIns="0" rIns="0" bIns="0" rtlCol="0" anchor="t"/>
          <a:lstStyle/>
          <a:p>
            <a:pPr indent="0" marL="0">
              <a:buNone/>
            </a:pPr>
            <a:r>
              <a:rPr lang="en-US" sz="1500" b="1" dirty="0">
                <a:solidFill>
                  <a:schemeClr val="bg1"/>
                </a:solidFill>
              </a:rPr>
              <a:t>T. HimaBindu Sree</a:t>
            </a:r>
            <a:endParaRPr lang="en-US" sz="1400" dirty="0"/>
          </a:p>
          <a:p>
            <a:pPr indent="0" marL="0">
              <a:buNone/>
            </a:pPr>
            <a:r>
              <a:rPr lang="en-US" sz="1200" dirty="0">
                <a:solidFill>
                  <a:schemeClr val="accent1"/>
                </a:solidFill>
              </a:rPr>
              <a:t>2520030484</a:t>
            </a:r>
            <a:endParaRPr lang="en-US" sz="1400" dirty="0"/>
          </a:p>
        </p:txBody>
      </p:sp>
      <p:sp>
        <p:nvSpPr>
          <p:cNvPr id="8" name="algorithms-panel-8"/>
          <p:cNvSpPr/>
          <p:nvPr/>
        </p:nvSpPr>
        <p:spPr>
          <a:xfrm>
            <a:off x="7863840" y="914400"/>
            <a:ext cx="3776472" cy="5349240"/>
          </a:xfrm>
          <a:prstGeom prst="roundRect">
            <a:avLst>
              <a:gd name="adj" fmla="val 2421"/>
            </a:avLst>
          </a:prstGeom>
          <a:solidFill>
            <a:schemeClr val="tx2"/>
          </a:solidFill>
          <a:ln/>
        </p:spPr>
      </p:sp>
      <p:sp>
        <p:nvSpPr>
          <p:cNvPr id="9" name="text-9"/>
          <p:cNvSpPr txBox="1"/>
          <p:nvPr/>
        </p:nvSpPr>
        <p:spPr>
          <a:xfrm>
            <a:off x="7863840" y="1188720"/>
            <a:ext cx="3776472" cy="274320"/>
          </a:xfrm>
          <a:prstGeom prst="rect">
            <a:avLst/>
          </a:prstGeom>
          <a:noFill/>
          <a:ln/>
        </p:spPr>
        <p:txBody>
          <a:bodyPr wrap="square" lIns="0" tIns="0" rIns="0" bIns="0" rtlCol="0" anchor="t"/>
          <a:lstStyle/>
          <a:p>
            <a:pPr algn="ctr" indent="0" marL="0">
              <a:buNone/>
            </a:pPr>
            <a:r>
              <a:rPr lang="en-US" sz="1200" b="1" spc="200" kern="0" dirty="0">
                <a:solidFill>
                  <a:schemeClr val="bg2"/>
                </a:solidFill>
              </a:rPr>
              <a:t>ALGORITHMS COMPARED</a:t>
            </a:r>
            <a:endParaRPr lang="en-US" sz="1200" dirty="0"/>
          </a:p>
        </p:txBody>
      </p:sp>
      <p:sp>
        <p:nvSpPr>
          <p:cNvPr id="10" name="algo-card-10"/>
          <p:cNvSpPr/>
          <p:nvPr/>
        </p:nvSpPr>
        <p:spPr>
          <a:xfrm>
            <a:off x="8183880" y="1783080"/>
            <a:ext cx="3136392" cy="1188720"/>
          </a:xfrm>
          <a:prstGeom prst="roundRect">
            <a:avLst>
              <a:gd name="adj" fmla="val 7692"/>
            </a:avLst>
          </a:prstGeom>
          <a:solidFill>
            <a:schemeClr val="tx1"/>
          </a:solidFill>
          <a:ln w="19050">
            <a:solidFill>
              <a:schemeClr val="accent2"/>
            </a:solidFill>
            <a:prstDash val="solid"/>
          </a:ln>
        </p:spPr>
      </p:sp>
      <p:sp>
        <p:nvSpPr>
          <p:cNvPr id="11" name="text-11"/>
          <p:cNvSpPr txBox="1"/>
          <p:nvPr/>
        </p:nvSpPr>
        <p:spPr>
          <a:xfrm>
            <a:off x="8458200" y="1783080"/>
            <a:ext cx="2651760" cy="1188720"/>
          </a:xfrm>
          <a:prstGeom prst="rect">
            <a:avLst/>
          </a:prstGeom>
          <a:noFill/>
          <a:ln/>
        </p:spPr>
        <p:txBody>
          <a:bodyPr wrap="square" lIns="0" tIns="0" rIns="0" bIns="0" rtlCol="0" anchor="ctr"/>
          <a:lstStyle/>
          <a:p>
            <a:pPr indent="0" marL="0">
              <a:buNone/>
            </a:pPr>
            <a:r>
              <a:rPr lang="en-US" sz="2600" b="1" dirty="0">
                <a:solidFill>
                  <a:schemeClr val="accent2"/>
                </a:solidFill>
              </a:rPr>
              <a:t>FIFO</a:t>
            </a:r>
            <a:endParaRPr lang="en-US" sz="1400" dirty="0"/>
          </a:p>
          <a:p>
            <a:pPr indent="0" marL="0">
              <a:buNone/>
            </a:pPr>
            <a:r>
              <a:rPr lang="en-US" sz="1400" dirty="0">
                <a:solidFill>
                  <a:schemeClr val="bg2"/>
                </a:solidFill>
              </a:rPr>
              <a:t>First In, First Out</a:t>
            </a:r>
            <a:endParaRPr lang="en-US" sz="1400" dirty="0"/>
          </a:p>
        </p:txBody>
      </p:sp>
      <p:sp>
        <p:nvSpPr>
          <p:cNvPr id="12" name="algo-card-12"/>
          <p:cNvSpPr/>
          <p:nvPr/>
        </p:nvSpPr>
        <p:spPr>
          <a:xfrm>
            <a:off x="8183880" y="3246120"/>
            <a:ext cx="3136392" cy="1188720"/>
          </a:xfrm>
          <a:prstGeom prst="roundRect">
            <a:avLst>
              <a:gd name="adj" fmla="val 7692"/>
            </a:avLst>
          </a:prstGeom>
          <a:solidFill>
            <a:schemeClr val="tx1"/>
          </a:solidFill>
          <a:ln w="19050">
            <a:solidFill>
              <a:schemeClr val="accent3"/>
            </a:solidFill>
            <a:prstDash val="solid"/>
          </a:ln>
        </p:spPr>
      </p:sp>
      <p:sp>
        <p:nvSpPr>
          <p:cNvPr id="13" name="text-13"/>
          <p:cNvSpPr txBox="1"/>
          <p:nvPr/>
        </p:nvSpPr>
        <p:spPr>
          <a:xfrm>
            <a:off x="8458200" y="3246120"/>
            <a:ext cx="2651760" cy="1188720"/>
          </a:xfrm>
          <a:prstGeom prst="rect">
            <a:avLst/>
          </a:prstGeom>
          <a:noFill/>
          <a:ln/>
        </p:spPr>
        <p:txBody>
          <a:bodyPr wrap="square" lIns="0" tIns="0" rIns="0" bIns="0" rtlCol="0" anchor="ctr"/>
          <a:lstStyle/>
          <a:p>
            <a:pPr indent="0" marL="0">
              <a:buNone/>
            </a:pPr>
            <a:r>
              <a:rPr lang="en-US" sz="2600" b="1" dirty="0">
                <a:solidFill>
                  <a:schemeClr val="accent3"/>
                </a:solidFill>
              </a:rPr>
              <a:t>LRU</a:t>
            </a:r>
            <a:endParaRPr lang="en-US" sz="1400" dirty="0"/>
          </a:p>
          <a:p>
            <a:pPr indent="0" marL="0">
              <a:buNone/>
            </a:pPr>
            <a:r>
              <a:rPr lang="en-US" sz="1400" dirty="0">
                <a:solidFill>
                  <a:schemeClr val="bg2"/>
                </a:solidFill>
              </a:rPr>
              <a:t>Least Recently Used</a:t>
            </a:r>
            <a:endParaRPr lang="en-US" sz="1400" dirty="0"/>
          </a:p>
        </p:txBody>
      </p:sp>
      <p:sp>
        <p:nvSpPr>
          <p:cNvPr id="14" name="algo-card-14"/>
          <p:cNvSpPr/>
          <p:nvPr/>
        </p:nvSpPr>
        <p:spPr>
          <a:xfrm>
            <a:off x="8183880" y="4709160"/>
            <a:ext cx="3136392" cy="1188720"/>
          </a:xfrm>
          <a:prstGeom prst="roundRect">
            <a:avLst>
              <a:gd name="adj" fmla="val 7692"/>
            </a:avLst>
          </a:prstGeom>
          <a:solidFill>
            <a:schemeClr val="tx1"/>
          </a:solidFill>
          <a:ln w="19050">
            <a:solidFill>
              <a:schemeClr val="accent1"/>
            </a:solidFill>
            <a:prstDash val="solid"/>
          </a:ln>
        </p:spPr>
      </p:sp>
      <p:sp>
        <p:nvSpPr>
          <p:cNvPr id="15" name="text-15"/>
          <p:cNvSpPr txBox="1"/>
          <p:nvPr/>
        </p:nvSpPr>
        <p:spPr>
          <a:xfrm>
            <a:off x="8458200" y="4709160"/>
            <a:ext cx="2651760" cy="1188720"/>
          </a:xfrm>
          <a:prstGeom prst="rect">
            <a:avLst/>
          </a:prstGeom>
          <a:noFill/>
          <a:ln/>
        </p:spPr>
        <p:txBody>
          <a:bodyPr wrap="square" lIns="0" tIns="0" rIns="0" bIns="0" rtlCol="0" anchor="ctr"/>
          <a:lstStyle/>
          <a:p>
            <a:pPr indent="0" marL="0">
              <a:buNone/>
            </a:pPr>
            <a:r>
              <a:rPr lang="en-US" sz="2600" b="1" dirty="0">
                <a:solidFill>
                  <a:schemeClr val="accent1"/>
                </a:solidFill>
              </a:rPr>
              <a:t>Optimal</a:t>
            </a:r>
            <a:endParaRPr lang="en-US" sz="1400" dirty="0"/>
          </a:p>
          <a:p>
            <a:pPr indent="0" marL="0">
              <a:buNone/>
            </a:pPr>
            <a:r>
              <a:rPr lang="en-US" sz="1400" dirty="0">
                <a:solidFill>
                  <a:schemeClr val="bg2"/>
                </a:solidFill>
              </a:rPr>
              <a:t>Farthest future use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Problem Statement</a:t>
            </a:r>
            <a:endParaRPr lang="en-US" sz="3400" dirty="0"/>
          </a:p>
        </p:txBody>
      </p:sp>
      <p:sp>
        <p:nvSpPr>
          <p:cNvPr id="3" name="bullet-card-16"/>
          <p:cNvSpPr/>
          <p:nvPr/>
        </p:nvSpPr>
        <p:spPr>
          <a:xfrm>
            <a:off x="548640" y="1371600"/>
            <a:ext cx="5408676" cy="4754880"/>
          </a:xfrm>
          <a:prstGeom prst="roundRect">
            <a:avLst>
              <a:gd name="adj" fmla="val 1923"/>
            </a:avLst>
          </a:prstGeom>
          <a:solidFill>
            <a:schemeClr val="tx2"/>
          </a:solidFill>
          <a:ln/>
        </p:spPr>
      </p:sp>
      <p:sp>
        <p:nvSpPr>
          <p:cNvPr id="4" name="icon-circle-17"/>
          <p:cNvSpPr/>
          <p:nvPr/>
        </p:nvSpPr>
        <p:spPr>
          <a:xfrm>
            <a:off x="822960" y="1600200"/>
            <a:ext cx="640080" cy="640080"/>
          </a:xfrm>
          <a:prstGeom prst="ellipse">
            <a:avLst/>
          </a:prstGeom>
          <a:solidFill>
            <a:schemeClr val="accent1"/>
          </a:solidFill>
          <a:ln/>
        </p:spPr>
      </p:sp>
      <p:pic>
        <p:nvPicPr>
          <p:cNvPr id="5" name="icon-18"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19"/>
          <p:cNvSpPr txBox="1"/>
          <p:nvPr/>
        </p:nvSpPr>
        <p:spPr>
          <a:xfrm>
            <a:off x="1645920" y="1600200"/>
            <a:ext cx="4128516" cy="640080"/>
          </a:xfrm>
          <a:prstGeom prst="rect">
            <a:avLst/>
          </a:prstGeom>
          <a:noFill/>
          <a:ln/>
        </p:spPr>
        <p:txBody>
          <a:bodyPr wrap="square" lIns="0" tIns="0" rIns="0" bIns="0" rtlCol="0" anchor="ctr"/>
          <a:lstStyle/>
          <a:p>
            <a:pPr indent="0" marL="0">
              <a:buNone/>
            </a:pPr>
            <a:r>
              <a:rPr lang="en-US" sz="2100" b="1" dirty="0">
                <a:solidFill>
                  <a:schemeClr val="accent1"/>
                </a:solidFill>
              </a:rPr>
              <a:t>Key terms</a:t>
            </a:r>
            <a:endParaRPr lang="en-US" sz="2100" dirty="0"/>
          </a:p>
        </p:txBody>
      </p:sp>
      <p:sp>
        <p:nvSpPr>
          <p:cNvPr id="7" name="text-20"/>
          <p:cNvSpPr txBox="1"/>
          <p:nvPr/>
        </p:nvSpPr>
        <p:spPr>
          <a:xfrm>
            <a:off x="868680" y="2514600"/>
            <a:ext cx="4768596" cy="342900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chemeClr val="bg1"/>
                </a:solidFill>
              </a:rPr>
              <a:t>Virtual memory: a process can use more memory than the physical RAM available</a:t>
            </a:r>
            <a:endParaRPr lang="en-US" sz="1900" dirty="0"/>
          </a:p>
          <a:p>
            <a:pPr marL="342900" indent="-342900">
              <a:spcAft>
                <a:spcPts val="1600"/>
              </a:spcAft>
              <a:buSzPct val="100000"/>
              <a:buChar char="•"/>
            </a:pPr>
            <a:r>
              <a:rPr lang="en-US" sz="1900" dirty="0">
                <a:solidFill>
                  <a:schemeClr val="bg1"/>
                </a:solidFill>
              </a:rPr>
              <a:t>Pages: fixed-size blocks of a process's memory; the rest wait on disk</a:t>
            </a:r>
            <a:endParaRPr lang="en-US" sz="1900" dirty="0"/>
          </a:p>
          <a:p>
            <a:pPr marL="342900" indent="-342900">
              <a:spcAft>
                <a:spcPts val="1600"/>
              </a:spcAft>
              <a:buSzPct val="100000"/>
              <a:buChar char="•"/>
            </a:pPr>
            <a:r>
              <a:rPr lang="en-US" sz="1900" dirty="0">
                <a:solidFill>
                  <a:schemeClr val="bg1"/>
                </a:solidFill>
              </a:rPr>
              <a:t>Frames: fixed-size slots in physical RAM, each holding one page</a:t>
            </a:r>
            <a:endParaRPr lang="en-US" sz="1900" dirty="0"/>
          </a:p>
        </p:txBody>
      </p:sp>
      <p:sp>
        <p:nvSpPr>
          <p:cNvPr id="8" name="bullet-card-21"/>
          <p:cNvSpPr/>
          <p:nvPr/>
        </p:nvSpPr>
        <p:spPr>
          <a:xfrm>
            <a:off x="6231636" y="1371600"/>
            <a:ext cx="5408676" cy="4754880"/>
          </a:xfrm>
          <a:prstGeom prst="roundRect">
            <a:avLst>
              <a:gd name="adj" fmla="val 1923"/>
            </a:avLst>
          </a:prstGeom>
          <a:solidFill>
            <a:schemeClr val="tx2"/>
          </a:solidFill>
          <a:ln/>
        </p:spPr>
      </p:sp>
      <p:sp>
        <p:nvSpPr>
          <p:cNvPr id="9" name="icon-circle-22"/>
          <p:cNvSpPr/>
          <p:nvPr/>
        </p:nvSpPr>
        <p:spPr>
          <a:xfrm>
            <a:off x="6505956" y="1600200"/>
            <a:ext cx="640080" cy="640080"/>
          </a:xfrm>
          <a:prstGeom prst="ellipse">
            <a:avLst/>
          </a:prstGeom>
          <a:solidFill>
            <a:schemeClr val="accent5"/>
          </a:solidFill>
          <a:ln/>
        </p:spPr>
      </p:sp>
      <p:pic>
        <p:nvPicPr>
          <p:cNvPr id="10" name="icon-23" descr="preencoded.png">    </p:cNvPr>
          <p:cNvPicPr>
            <a:picLocks noChangeAspect="1"/>
          </p:cNvPicPr>
          <p:nvPr/>
        </p:nvPicPr>
        <p:blipFill>
          <a:blip r:embed="rId2"/>
          <a:stretch>
            <a:fillRect/>
          </a:stretch>
        </p:blipFill>
        <p:spPr>
          <a:xfrm>
            <a:off x="6678778" y="1773022"/>
            <a:ext cx="294437" cy="294437"/>
          </a:xfrm>
          <a:prstGeom prst="rect">
            <a:avLst/>
          </a:prstGeom>
        </p:spPr>
      </p:pic>
      <p:sp>
        <p:nvSpPr>
          <p:cNvPr id="11" name="text-24"/>
          <p:cNvSpPr txBox="1"/>
          <p:nvPr/>
        </p:nvSpPr>
        <p:spPr>
          <a:xfrm>
            <a:off x="7328916" y="1600200"/>
            <a:ext cx="4128516" cy="640080"/>
          </a:xfrm>
          <a:prstGeom prst="rect">
            <a:avLst/>
          </a:prstGeom>
          <a:noFill/>
          <a:ln/>
        </p:spPr>
        <p:txBody>
          <a:bodyPr wrap="square" lIns="0" tIns="0" rIns="0" bIns="0" rtlCol="0" anchor="ctr"/>
          <a:lstStyle/>
          <a:p>
            <a:pPr indent="0" marL="0">
              <a:buNone/>
            </a:pPr>
            <a:r>
              <a:rPr lang="en-US" sz="2100" b="1" dirty="0">
                <a:solidFill>
                  <a:schemeClr val="accent5"/>
                </a:solidFill>
              </a:rPr>
              <a:t>The problem</a:t>
            </a:r>
            <a:endParaRPr lang="en-US" sz="2100" dirty="0"/>
          </a:p>
        </p:txBody>
      </p:sp>
      <p:sp>
        <p:nvSpPr>
          <p:cNvPr id="12" name="text-25"/>
          <p:cNvSpPr txBox="1"/>
          <p:nvPr/>
        </p:nvSpPr>
        <p:spPr>
          <a:xfrm>
            <a:off x="6551676" y="2514600"/>
            <a:ext cx="4768596" cy="3429000"/>
          </a:xfrm>
          <a:prstGeom prst="rect">
            <a:avLst/>
          </a:prstGeom>
          <a:noFill/>
          <a:ln/>
        </p:spPr>
        <p:txBody>
          <a:bodyPr wrap="square" lIns="0" tIns="0" rIns="0" bIns="0" rtlCol="0" anchor="t"/>
          <a:lstStyle/>
          <a:p>
            <a:pPr marL="342900" indent="-342900">
              <a:spcAft>
                <a:spcPts val="1600"/>
              </a:spcAft>
              <a:buSzPct val="100000"/>
              <a:buChar char="•"/>
            </a:pPr>
            <a:r>
              <a:rPr lang="en-US" sz="1900" dirty="0">
                <a:solidFill>
                  <a:schemeClr val="bg1"/>
                </a:solidFill>
              </a:rPr>
              <a:t>Page fault: the requested page is not in any frame</a:t>
            </a:r>
            <a:endParaRPr lang="en-US" sz="1900" dirty="0"/>
          </a:p>
          <a:p>
            <a:pPr marL="342900" indent="-342900">
              <a:spcAft>
                <a:spcPts val="1600"/>
              </a:spcAft>
              <a:buSzPct val="100000"/>
              <a:buChar char="•"/>
            </a:pPr>
            <a:r>
              <a:rPr lang="en-US" sz="1900" dirty="0">
                <a:solidFill>
                  <a:schemeClr val="bg1"/>
                </a:solidFill>
              </a:rPr>
              <a:t>If all frames are full, the OS must evict a victim page</a:t>
            </a:r>
            <a:endParaRPr lang="en-US" sz="1900" dirty="0"/>
          </a:p>
          <a:p>
            <a:pPr marL="342900" indent="-342900">
              <a:spcAft>
                <a:spcPts val="1600"/>
              </a:spcAft>
              <a:buSzPct val="100000"/>
              <a:buChar char="•"/>
            </a:pPr>
            <a:r>
              <a:rPr lang="en-US" sz="1900" dirty="0">
                <a:solidFill>
                  <a:schemeClr val="bg1"/>
                </a:solidFill>
              </a:rPr>
              <a:t>Which page is evicted changes how many faults happen later</a:t>
            </a:r>
            <a:endParaRPr lang="en-US" sz="1900" dirty="0"/>
          </a:p>
          <a:p>
            <a:pPr marL="342900" indent="-342900">
              <a:spcAft>
                <a:spcPts val="1600"/>
              </a:spcAft>
              <a:buSzPct val="100000"/>
              <a:buChar char="•"/>
            </a:pPr>
            <a:r>
              <a:rPr lang="en-US" sz="1900" dirty="0">
                <a:solidFill>
                  <a:schemeClr val="bg1"/>
                </a:solidFill>
              </a:rPr>
              <a:t>Different algorithms must be compared on the same input</a:t>
            </a:r>
            <a:endParaRPr lang="en-US" sz="19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Objectives and Proposed Solution</a:t>
            </a:r>
            <a:endParaRPr lang="en-US" sz="3400" dirty="0"/>
          </a:p>
        </p:txBody>
      </p:sp>
      <p:sp>
        <p:nvSpPr>
          <p:cNvPr id="3" name="bullet-card-26"/>
          <p:cNvSpPr/>
          <p:nvPr/>
        </p:nvSpPr>
        <p:spPr>
          <a:xfrm>
            <a:off x="548640" y="1371600"/>
            <a:ext cx="5408676" cy="4754880"/>
          </a:xfrm>
          <a:prstGeom prst="roundRect">
            <a:avLst>
              <a:gd name="adj" fmla="val 1923"/>
            </a:avLst>
          </a:prstGeom>
          <a:solidFill>
            <a:schemeClr val="tx2"/>
          </a:solidFill>
          <a:ln/>
        </p:spPr>
      </p:sp>
      <p:sp>
        <p:nvSpPr>
          <p:cNvPr id="4" name="icon-circle-27"/>
          <p:cNvSpPr/>
          <p:nvPr/>
        </p:nvSpPr>
        <p:spPr>
          <a:xfrm>
            <a:off x="822960" y="1600200"/>
            <a:ext cx="640080" cy="640080"/>
          </a:xfrm>
          <a:prstGeom prst="ellipse">
            <a:avLst/>
          </a:prstGeom>
          <a:solidFill>
            <a:schemeClr val="accent1"/>
          </a:solidFill>
          <a:ln/>
        </p:spPr>
      </p:sp>
      <p:pic>
        <p:nvPicPr>
          <p:cNvPr id="5" name="icon-28"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29"/>
          <p:cNvSpPr txBox="1"/>
          <p:nvPr/>
        </p:nvSpPr>
        <p:spPr>
          <a:xfrm>
            <a:off x="1645920" y="1600200"/>
            <a:ext cx="4128516" cy="640080"/>
          </a:xfrm>
          <a:prstGeom prst="rect">
            <a:avLst/>
          </a:prstGeom>
          <a:noFill/>
          <a:ln/>
        </p:spPr>
        <p:txBody>
          <a:bodyPr wrap="square" lIns="0" tIns="0" rIns="0" bIns="0" rtlCol="0" anchor="ctr"/>
          <a:lstStyle/>
          <a:p>
            <a:pPr indent="0" marL="0">
              <a:buNone/>
            </a:pPr>
            <a:r>
              <a:rPr lang="en-US" sz="2100" b="1" dirty="0">
                <a:solidFill>
                  <a:schemeClr val="accent1"/>
                </a:solidFill>
              </a:rPr>
              <a:t>Objectives</a:t>
            </a:r>
            <a:endParaRPr lang="en-US" sz="2100" dirty="0"/>
          </a:p>
        </p:txBody>
      </p:sp>
      <p:sp>
        <p:nvSpPr>
          <p:cNvPr id="7" name="text-30"/>
          <p:cNvSpPr txBox="1"/>
          <p:nvPr/>
        </p:nvSpPr>
        <p:spPr>
          <a:xfrm>
            <a:off x="868680" y="2514600"/>
            <a:ext cx="4768596" cy="342900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chemeClr val="bg1"/>
                </a:solidFill>
              </a:rPr>
              <a:t>Simulate FIFO, LRU and Optimal</a:t>
            </a:r>
            <a:endParaRPr lang="en-US" sz="1900" dirty="0"/>
          </a:p>
          <a:p>
            <a:pPr marL="342900" indent="-342900">
              <a:spcAft>
                <a:spcPts val="1200"/>
              </a:spcAft>
              <a:buSzPct val="100000"/>
              <a:buChar char="•"/>
            </a:pPr>
            <a:r>
              <a:rPr lang="en-US" sz="1900" dirty="0">
                <a:solidFill>
                  <a:schemeClr val="bg1"/>
                </a:solidFill>
              </a:rPr>
              <a:t>Visualize page-frame changes step by step</a:t>
            </a:r>
            <a:endParaRPr lang="en-US" sz="1900" dirty="0"/>
          </a:p>
          <a:p>
            <a:pPr marL="342900" indent="-342900">
              <a:spcAft>
                <a:spcPts val="1200"/>
              </a:spcAft>
              <a:buSzPct val="100000"/>
              <a:buChar char="•"/>
            </a:pPr>
            <a:r>
              <a:rPr lang="en-US" sz="1900" dirty="0">
                <a:solidFill>
                  <a:schemeClr val="bg1"/>
                </a:solidFill>
              </a:rPr>
              <a:t>Identify page hits and page faults</a:t>
            </a:r>
            <a:endParaRPr lang="en-US" sz="1900" dirty="0"/>
          </a:p>
          <a:p>
            <a:pPr marL="342900" indent="-342900">
              <a:spcAft>
                <a:spcPts val="1200"/>
              </a:spcAft>
              <a:buSzPct val="100000"/>
              <a:buChar char="•"/>
            </a:pPr>
            <a:r>
              <a:rPr lang="en-US" sz="1900" dirty="0">
                <a:solidFill>
                  <a:schemeClr val="bg1"/>
                </a:solidFill>
              </a:rPr>
              <a:t>Show replacement and eviction decisions</a:t>
            </a:r>
            <a:endParaRPr lang="en-US" sz="1900" dirty="0"/>
          </a:p>
          <a:p>
            <a:pPr marL="342900" indent="-342900">
              <a:spcAft>
                <a:spcPts val="1200"/>
              </a:spcAft>
              <a:buSzPct val="100000"/>
              <a:buChar char="•"/>
            </a:pPr>
            <a:r>
              <a:rPr lang="en-US" sz="1900" dirty="0">
                <a:solidFill>
                  <a:schemeClr val="bg1"/>
                </a:solidFill>
              </a:rPr>
              <a:t>Compare performance on the same input</a:t>
            </a:r>
            <a:endParaRPr lang="en-US" sz="1900" dirty="0"/>
          </a:p>
        </p:txBody>
      </p:sp>
      <p:sp>
        <p:nvSpPr>
          <p:cNvPr id="8" name="bullet-card-31"/>
          <p:cNvSpPr/>
          <p:nvPr/>
        </p:nvSpPr>
        <p:spPr>
          <a:xfrm>
            <a:off x="6231636" y="1371600"/>
            <a:ext cx="5408676" cy="4754880"/>
          </a:xfrm>
          <a:prstGeom prst="roundRect">
            <a:avLst>
              <a:gd name="adj" fmla="val 1923"/>
            </a:avLst>
          </a:prstGeom>
          <a:solidFill>
            <a:schemeClr val="tx2"/>
          </a:solidFill>
          <a:ln/>
        </p:spPr>
      </p:sp>
      <p:sp>
        <p:nvSpPr>
          <p:cNvPr id="9" name="icon-circle-32"/>
          <p:cNvSpPr/>
          <p:nvPr/>
        </p:nvSpPr>
        <p:spPr>
          <a:xfrm>
            <a:off x="6505956" y="1600200"/>
            <a:ext cx="640080" cy="640080"/>
          </a:xfrm>
          <a:prstGeom prst="ellipse">
            <a:avLst/>
          </a:prstGeom>
          <a:solidFill>
            <a:schemeClr val="accent3"/>
          </a:solidFill>
          <a:ln/>
        </p:spPr>
      </p:sp>
      <p:pic>
        <p:nvPicPr>
          <p:cNvPr id="10" name="icon-33" descr="preencoded.png">    </p:cNvPr>
          <p:cNvPicPr>
            <a:picLocks noChangeAspect="1"/>
          </p:cNvPicPr>
          <p:nvPr/>
        </p:nvPicPr>
        <p:blipFill>
          <a:blip r:embed="rId2"/>
          <a:stretch>
            <a:fillRect/>
          </a:stretch>
        </p:blipFill>
        <p:spPr>
          <a:xfrm>
            <a:off x="6678778" y="1773022"/>
            <a:ext cx="294437" cy="294437"/>
          </a:xfrm>
          <a:prstGeom prst="rect">
            <a:avLst/>
          </a:prstGeom>
        </p:spPr>
      </p:pic>
      <p:sp>
        <p:nvSpPr>
          <p:cNvPr id="11" name="text-34"/>
          <p:cNvSpPr txBox="1"/>
          <p:nvPr/>
        </p:nvSpPr>
        <p:spPr>
          <a:xfrm>
            <a:off x="7328916" y="1600200"/>
            <a:ext cx="4128516" cy="640080"/>
          </a:xfrm>
          <a:prstGeom prst="rect">
            <a:avLst/>
          </a:prstGeom>
          <a:noFill/>
          <a:ln/>
        </p:spPr>
        <p:txBody>
          <a:bodyPr wrap="square" lIns="0" tIns="0" rIns="0" bIns="0" rtlCol="0" anchor="ctr"/>
          <a:lstStyle/>
          <a:p>
            <a:pPr indent="0" marL="0">
              <a:buNone/>
            </a:pPr>
            <a:r>
              <a:rPr lang="en-US" sz="2100" b="1" dirty="0">
                <a:solidFill>
                  <a:schemeClr val="accent3"/>
                </a:solidFill>
              </a:rPr>
              <a:t>Proposed solution</a:t>
            </a:r>
            <a:endParaRPr lang="en-US" sz="2100" dirty="0"/>
          </a:p>
        </p:txBody>
      </p:sp>
      <p:sp>
        <p:nvSpPr>
          <p:cNvPr id="12" name="text-35"/>
          <p:cNvSpPr txBox="1"/>
          <p:nvPr/>
        </p:nvSpPr>
        <p:spPr>
          <a:xfrm>
            <a:off x="6551676" y="2514600"/>
            <a:ext cx="4768596" cy="342900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chemeClr val="bg1"/>
                </a:solidFill>
              </a:rPr>
              <a:t>Interactive command-line simulator in C</a:t>
            </a:r>
            <a:endParaRPr lang="en-US" sz="1900" dirty="0"/>
          </a:p>
          <a:p>
            <a:pPr marL="342900" indent="-342900">
              <a:spcAft>
                <a:spcPts val="1200"/>
              </a:spcAft>
              <a:buSzPct val="100000"/>
              <a:buChar char="•"/>
            </a:pPr>
            <a:r>
              <a:rPr lang="en-US" sz="1900" dirty="0">
                <a:solidFill>
                  <a:schemeClr val="bg1"/>
                </a:solidFill>
              </a:rPr>
              <a:t>User enters the frame count and a reference string</a:t>
            </a:r>
            <a:endParaRPr lang="en-US" sz="1900" dirty="0"/>
          </a:p>
          <a:p>
            <a:pPr marL="342900" indent="-342900">
              <a:spcAft>
                <a:spcPts val="1200"/>
              </a:spcAft>
              <a:buSzPct val="100000"/>
              <a:buChar char="•"/>
            </a:pPr>
            <a:r>
              <a:rPr lang="en-US" sz="1900" dirty="0">
                <a:solidFill>
                  <a:schemeClr val="bg1"/>
                </a:solidFill>
              </a:rPr>
              <a:t>Prints frame contents after every request</a:t>
            </a:r>
            <a:endParaRPr lang="en-US" sz="1900" dirty="0"/>
          </a:p>
          <a:p>
            <a:pPr marL="342900" indent="-342900">
              <a:spcAft>
                <a:spcPts val="1200"/>
              </a:spcAft>
              <a:buSzPct val="100000"/>
              <a:buChar char="•"/>
            </a:pPr>
            <a:r>
              <a:rPr lang="en-US" sz="1900" dirty="0">
                <a:solidFill>
                  <a:schemeClr val="bg1"/>
                </a:solidFill>
              </a:rPr>
              <a:t>Marks HIT or FAULT and names the evicted page</a:t>
            </a:r>
            <a:endParaRPr lang="en-US" sz="1900" dirty="0"/>
          </a:p>
          <a:p>
            <a:pPr marL="342900" indent="-342900">
              <a:spcAft>
                <a:spcPts val="1200"/>
              </a:spcAft>
              <a:buSzPct val="100000"/>
              <a:buChar char="•"/>
            </a:pPr>
            <a:r>
              <a:rPr lang="en-US" sz="1900" dirty="0">
                <a:solidFill>
                  <a:schemeClr val="bg1"/>
                </a:solidFill>
              </a:rPr>
              <a:t>Comparison table and bar chart summarize results</a:t>
            </a:r>
            <a:endParaRPr lang="en-US" sz="19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System Design and Workflow</a:t>
            </a:r>
            <a:endParaRPr lang="en-US" sz="3400" dirty="0"/>
          </a:p>
        </p:txBody>
      </p:sp>
      <p:sp>
        <p:nvSpPr>
          <p:cNvPr id="3" name="bullet-card-36"/>
          <p:cNvSpPr/>
          <p:nvPr/>
        </p:nvSpPr>
        <p:spPr>
          <a:xfrm>
            <a:off x="548640" y="1371600"/>
            <a:ext cx="5120640" cy="4754880"/>
          </a:xfrm>
          <a:prstGeom prst="roundRect">
            <a:avLst>
              <a:gd name="adj" fmla="val 1923"/>
            </a:avLst>
          </a:prstGeom>
          <a:solidFill>
            <a:schemeClr val="tx2"/>
          </a:solidFill>
          <a:ln/>
        </p:spPr>
      </p:sp>
      <p:sp>
        <p:nvSpPr>
          <p:cNvPr id="4" name="icon-circle-37"/>
          <p:cNvSpPr/>
          <p:nvPr/>
        </p:nvSpPr>
        <p:spPr>
          <a:xfrm>
            <a:off x="822960" y="1600200"/>
            <a:ext cx="640080" cy="640080"/>
          </a:xfrm>
          <a:prstGeom prst="ellipse">
            <a:avLst/>
          </a:prstGeom>
          <a:solidFill>
            <a:schemeClr val="accent1"/>
          </a:solidFill>
          <a:ln/>
        </p:spPr>
      </p:sp>
      <p:pic>
        <p:nvPicPr>
          <p:cNvPr id="5" name="icon-38"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39"/>
          <p:cNvSpPr txBox="1"/>
          <p:nvPr/>
        </p:nvSpPr>
        <p:spPr>
          <a:xfrm>
            <a:off x="1645920" y="1600200"/>
            <a:ext cx="3840480" cy="640080"/>
          </a:xfrm>
          <a:prstGeom prst="rect">
            <a:avLst/>
          </a:prstGeom>
          <a:noFill/>
          <a:ln/>
        </p:spPr>
        <p:txBody>
          <a:bodyPr wrap="square" lIns="0" tIns="0" rIns="0" bIns="0" rtlCol="0" anchor="ctr"/>
          <a:lstStyle/>
          <a:p>
            <a:pPr indent="0" marL="0">
              <a:buNone/>
            </a:pPr>
            <a:r>
              <a:rPr lang="en-US" sz="2100" b="1" dirty="0">
                <a:solidFill>
                  <a:schemeClr val="accent1"/>
                </a:solidFill>
              </a:rPr>
              <a:t>Workflow</a:t>
            </a:r>
            <a:endParaRPr lang="en-US" sz="2100" dirty="0"/>
          </a:p>
        </p:txBody>
      </p:sp>
      <p:sp>
        <p:nvSpPr>
          <p:cNvPr id="7" name="text-40"/>
          <p:cNvSpPr txBox="1"/>
          <p:nvPr/>
        </p:nvSpPr>
        <p:spPr>
          <a:xfrm>
            <a:off x="868680" y="2514600"/>
            <a:ext cx="4480560" cy="34290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bg1"/>
                </a:solidFill>
              </a:rPr>
              <a:t>User input</a:t>
            </a:r>
            <a:endParaRPr lang="en-US" sz="1800" dirty="0"/>
          </a:p>
          <a:p>
            <a:pPr marL="342900" indent="-342900">
              <a:spcAft>
                <a:spcPts val="800"/>
              </a:spcAft>
              <a:buSzPct val="100000"/>
              <a:buFont typeface="+mj-lt"/>
              <a:buAutoNum type="arabicPeriod" startAt="1"/>
            </a:pPr>
            <a:r>
              <a:rPr lang="en-US" sz="1800" dirty="0">
                <a:solidFill>
                  <a:schemeClr val="bg1"/>
                </a:solidFill>
              </a:rPr>
              <a:t>Input validation</a:t>
            </a:r>
            <a:endParaRPr lang="en-US" sz="1800" dirty="0"/>
          </a:p>
          <a:p>
            <a:pPr marL="342900" indent="-342900">
              <a:spcAft>
                <a:spcPts val="800"/>
              </a:spcAft>
              <a:buSzPct val="100000"/>
              <a:buFont typeface="+mj-lt"/>
              <a:buAutoNum type="arabicPeriod" startAt="1"/>
            </a:pPr>
            <a:r>
              <a:rPr lang="en-US" sz="1800" dirty="0">
                <a:solidFill>
                  <a:schemeClr val="bg1"/>
                </a:solidFill>
              </a:rPr>
              <a:t>FIFO / LRU / Optimal simulation</a:t>
            </a:r>
            <a:endParaRPr lang="en-US" sz="1800" dirty="0"/>
          </a:p>
          <a:p>
            <a:pPr marL="342900" indent="-342900">
              <a:spcAft>
                <a:spcPts val="800"/>
              </a:spcAft>
              <a:buSzPct val="100000"/>
              <a:buFont typeface="+mj-lt"/>
              <a:buAutoNum type="arabicPeriod" startAt="1"/>
            </a:pPr>
            <a:r>
              <a:rPr lang="en-US" sz="1800" dirty="0">
                <a:solidFill>
                  <a:schemeClr val="bg1"/>
                </a:solidFill>
              </a:rPr>
              <a:t>Frame-state tracking</a:t>
            </a:r>
            <a:endParaRPr lang="en-US" sz="1800" dirty="0"/>
          </a:p>
          <a:p>
            <a:pPr marL="342900" indent="-342900">
              <a:spcAft>
                <a:spcPts val="800"/>
              </a:spcAft>
              <a:buSzPct val="100000"/>
              <a:buFont typeface="+mj-lt"/>
              <a:buAutoNum type="arabicPeriod" startAt="1"/>
            </a:pPr>
            <a:r>
              <a:rPr lang="en-US" sz="1800" dirty="0">
                <a:solidFill>
                  <a:schemeClr val="bg1"/>
                </a:solidFill>
              </a:rPr>
              <a:t>Hit and fault statistics</a:t>
            </a:r>
            <a:endParaRPr lang="en-US" sz="1800" dirty="0"/>
          </a:p>
          <a:p>
            <a:pPr marL="342900" indent="-342900">
              <a:spcAft>
                <a:spcPts val="800"/>
              </a:spcAft>
              <a:buSzPct val="100000"/>
              <a:buFont typeface="+mj-lt"/>
              <a:buAutoNum type="arabicPeriod" startAt="1"/>
            </a:pPr>
            <a:r>
              <a:rPr lang="en-US" sz="1800" dirty="0">
                <a:solidFill>
                  <a:schemeClr val="bg1"/>
                </a:solidFill>
              </a:rPr>
              <a:t>Results comparison</a:t>
            </a:r>
            <a:endParaRPr lang="en-US" sz="1800" dirty="0"/>
          </a:p>
          <a:p>
            <a:pPr marL="342900" indent="-342900">
              <a:spcAft>
                <a:spcPts val="800"/>
              </a:spcAft>
              <a:buSzPct val="100000"/>
              <a:buFont typeface="+mj-lt"/>
              <a:buAutoNum type="arabicPeriod" startAt="1"/>
            </a:pPr>
            <a:r>
              <a:rPr lang="en-US" sz="1800" dirty="0">
                <a:solidFill>
                  <a:schemeClr val="bg1"/>
                </a:solidFill>
              </a:rPr>
              <a:t>Terminal output</a:t>
            </a:r>
            <a:endParaRPr lang="en-US" sz="1800" dirty="0"/>
          </a:p>
        </p:txBody>
      </p:sp>
      <p:sp>
        <p:nvSpPr>
          <p:cNvPr id="8" name="bullet-card-41"/>
          <p:cNvSpPr/>
          <p:nvPr/>
        </p:nvSpPr>
        <p:spPr>
          <a:xfrm>
            <a:off x="5943600" y="1371600"/>
            <a:ext cx="5696712" cy="4754880"/>
          </a:xfrm>
          <a:prstGeom prst="roundRect">
            <a:avLst>
              <a:gd name="adj" fmla="val 1923"/>
            </a:avLst>
          </a:prstGeom>
          <a:solidFill>
            <a:schemeClr val="tx2"/>
          </a:solidFill>
          <a:ln/>
        </p:spPr>
      </p:sp>
      <p:sp>
        <p:nvSpPr>
          <p:cNvPr id="9" name="icon-circle-42"/>
          <p:cNvSpPr/>
          <p:nvPr/>
        </p:nvSpPr>
        <p:spPr>
          <a:xfrm>
            <a:off x="6217920" y="1600200"/>
            <a:ext cx="640080" cy="640080"/>
          </a:xfrm>
          <a:prstGeom prst="ellipse">
            <a:avLst/>
          </a:prstGeom>
          <a:solidFill>
            <a:schemeClr val="accent3"/>
          </a:solidFill>
          <a:ln/>
        </p:spPr>
      </p:sp>
      <p:pic>
        <p:nvPicPr>
          <p:cNvPr id="10" name="icon-43" descr="preencoded.png">    </p:cNvPr>
          <p:cNvPicPr>
            <a:picLocks noChangeAspect="1"/>
          </p:cNvPicPr>
          <p:nvPr/>
        </p:nvPicPr>
        <p:blipFill>
          <a:blip r:embed="rId2"/>
          <a:stretch>
            <a:fillRect/>
          </a:stretch>
        </p:blipFill>
        <p:spPr>
          <a:xfrm>
            <a:off x="6390742" y="1773022"/>
            <a:ext cx="294437" cy="294437"/>
          </a:xfrm>
          <a:prstGeom prst="rect">
            <a:avLst/>
          </a:prstGeom>
        </p:spPr>
      </p:pic>
      <p:sp>
        <p:nvSpPr>
          <p:cNvPr id="11" name="text-44"/>
          <p:cNvSpPr txBox="1"/>
          <p:nvPr/>
        </p:nvSpPr>
        <p:spPr>
          <a:xfrm>
            <a:off x="7040880" y="1600200"/>
            <a:ext cx="4416552" cy="640080"/>
          </a:xfrm>
          <a:prstGeom prst="rect">
            <a:avLst/>
          </a:prstGeom>
          <a:noFill/>
          <a:ln/>
        </p:spPr>
        <p:txBody>
          <a:bodyPr wrap="square" lIns="0" tIns="0" rIns="0" bIns="0" rtlCol="0" anchor="ctr"/>
          <a:lstStyle/>
          <a:p>
            <a:pPr indent="0" marL="0">
              <a:buNone/>
            </a:pPr>
            <a:r>
              <a:rPr lang="en-US" sz="2100" b="1" dirty="0">
                <a:solidFill>
                  <a:schemeClr val="accent3"/>
                </a:solidFill>
              </a:rPr>
              <a:t>Main components (pagesim.c)</a:t>
            </a:r>
            <a:endParaRPr lang="en-US" sz="2100" dirty="0"/>
          </a:p>
        </p:txBody>
      </p:sp>
      <p:sp>
        <p:nvSpPr>
          <p:cNvPr id="12" name="text-45"/>
          <p:cNvSpPr txBox="1"/>
          <p:nvPr/>
        </p:nvSpPr>
        <p:spPr>
          <a:xfrm>
            <a:off x="6263640" y="2514600"/>
            <a:ext cx="5056632" cy="3429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main() + getopt: reads options, validates input</a:t>
            </a:r>
            <a:endParaRPr lang="en-US" sz="1800" dirty="0"/>
          </a:p>
          <a:p>
            <a:pPr marL="342900" indent="-342900">
              <a:spcAft>
                <a:spcPts val="1000"/>
              </a:spcAft>
              <a:buSzPct val="100000"/>
              <a:buChar char="•"/>
            </a:pPr>
            <a:r>
              <a:rPr lang="en-US" sz="1800" dirty="0">
                <a:solidFill>
                  <a:schemeClr val="bg1"/>
                </a:solidFill>
              </a:rPr>
              <a:t>simulate(): one run per algorithm; records every step</a:t>
            </a:r>
            <a:endParaRPr lang="en-US" sz="1800" dirty="0"/>
          </a:p>
          <a:p>
            <a:pPr marL="342900" indent="-342900">
              <a:spcAft>
                <a:spcPts val="1000"/>
              </a:spcAft>
              <a:buSzPct val="100000"/>
              <a:buChar char="•"/>
            </a:pPr>
            <a:r>
              <a:rPr lang="en-US" sz="1800" dirty="0">
                <a:solidFill>
                  <a:schemeClr val="bg1"/>
                </a:solidFill>
              </a:rPr>
              <a:t>print_steps(): step-by-step frame table</a:t>
            </a:r>
            <a:endParaRPr lang="en-US" sz="1800" dirty="0"/>
          </a:p>
          <a:p>
            <a:pPr marL="342900" indent="-342900">
              <a:spcAft>
                <a:spcPts val="1000"/>
              </a:spcAft>
              <a:buSzPct val="100000"/>
              <a:buChar char="•"/>
            </a:pPr>
            <a:r>
              <a:rPr lang="en-US" sz="1800" dirty="0">
                <a:solidFill>
                  <a:schemeClr val="bg1"/>
                </a:solidFill>
              </a:rPr>
              <a:t>comparison + bar(): results table and bar chart</a:t>
            </a:r>
            <a:endParaRPr lang="en-US" sz="1800" dirty="0"/>
          </a:p>
          <a:p>
            <a:pPr marL="342900" indent="-342900">
              <a:spcAft>
                <a:spcPts val="1000"/>
              </a:spcAft>
              <a:buSzPct val="100000"/>
              <a:buChar char="•"/>
            </a:pPr>
            <a:r>
              <a:rPr lang="en-US" sz="1800" dirty="0">
                <a:solidFill>
                  <a:schemeClr val="bg1"/>
                </a:solidFill>
              </a:rPr>
              <a:t>Each algorithm runs independently on the same reference string and frame count</a:t>
            </a:r>
            <a:endParaRPr lang="en-US" sz="18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Page Replacement Algorithms</a:t>
            </a:r>
            <a:endParaRPr lang="en-US" sz="3400" dirty="0"/>
          </a:p>
        </p:txBody>
      </p:sp>
      <p:sp>
        <p:nvSpPr>
          <p:cNvPr id="3" name="algorithm-card-46"/>
          <p:cNvSpPr/>
          <p:nvPr/>
        </p:nvSpPr>
        <p:spPr>
          <a:xfrm>
            <a:off x="548640" y="1371600"/>
            <a:ext cx="3544824" cy="4754880"/>
          </a:xfrm>
          <a:prstGeom prst="roundRect">
            <a:avLst>
              <a:gd name="adj" fmla="val 2580"/>
            </a:avLst>
          </a:prstGeom>
          <a:solidFill>
            <a:schemeClr val="tx2"/>
          </a:solidFill>
          <a:ln w="19050">
            <a:solidFill>
              <a:schemeClr val="accent2"/>
            </a:solidFill>
            <a:prstDash val="solid"/>
          </a:ln>
        </p:spPr>
      </p:sp>
      <p:sp>
        <p:nvSpPr>
          <p:cNvPr id="4" name="text-47"/>
          <p:cNvSpPr txBox="1"/>
          <p:nvPr/>
        </p:nvSpPr>
        <p:spPr>
          <a:xfrm>
            <a:off x="822960" y="1600200"/>
            <a:ext cx="2996184" cy="502920"/>
          </a:xfrm>
          <a:prstGeom prst="rect">
            <a:avLst/>
          </a:prstGeom>
          <a:noFill/>
          <a:ln/>
        </p:spPr>
        <p:txBody>
          <a:bodyPr wrap="square" lIns="0" tIns="0" rIns="0" bIns="0" rtlCol="0" anchor="t"/>
          <a:lstStyle/>
          <a:p>
            <a:pPr indent="0" marL="0">
              <a:buNone/>
            </a:pPr>
            <a:r>
              <a:rPr lang="en-US" sz="2800" b="1" dirty="0">
                <a:solidFill>
                  <a:schemeClr val="accent2"/>
                </a:solidFill>
              </a:rPr>
              <a:t>FIFO</a:t>
            </a:r>
            <a:endParaRPr lang="en-US" sz="2800" dirty="0"/>
          </a:p>
        </p:txBody>
      </p:sp>
      <p:sp>
        <p:nvSpPr>
          <p:cNvPr id="5" name="text-48"/>
          <p:cNvSpPr txBox="1"/>
          <p:nvPr/>
        </p:nvSpPr>
        <p:spPr>
          <a:xfrm>
            <a:off x="822960" y="2148840"/>
            <a:ext cx="2996184" cy="320040"/>
          </a:xfrm>
          <a:prstGeom prst="rect">
            <a:avLst/>
          </a:prstGeom>
          <a:noFill/>
          <a:ln/>
        </p:spPr>
        <p:txBody>
          <a:bodyPr wrap="square" lIns="0" tIns="0" rIns="0" bIns="0" rtlCol="0" anchor="t"/>
          <a:lstStyle/>
          <a:p>
            <a:pPr indent="0" marL="0">
              <a:buNone/>
            </a:pPr>
            <a:r>
              <a:rPr lang="en-US" sz="1500" dirty="0">
                <a:solidFill>
                  <a:schemeClr val="bg2"/>
                </a:solidFill>
              </a:rPr>
              <a:t>First In, First Out</a:t>
            </a:r>
            <a:endParaRPr lang="en-US" sz="1500" dirty="0"/>
          </a:p>
        </p:txBody>
      </p:sp>
      <p:sp>
        <p:nvSpPr>
          <p:cNvPr id="6" name="text-49"/>
          <p:cNvSpPr txBox="1"/>
          <p:nvPr/>
        </p:nvSpPr>
        <p:spPr>
          <a:xfrm>
            <a:off x="822960" y="2743200"/>
            <a:ext cx="2996184" cy="32004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Replaces the page that entered memory earliest</a:t>
            </a:r>
            <a:endParaRPr lang="en-US" sz="1800" dirty="0"/>
          </a:p>
          <a:p>
            <a:pPr marL="342900" indent="-342900">
              <a:spcAft>
                <a:spcPts val="1400"/>
              </a:spcAft>
              <a:buSzPct val="100000"/>
              <a:buChar char="•"/>
            </a:pPr>
            <a:r>
              <a:rPr lang="en-US" sz="1800" dirty="0">
                <a:solidFill>
                  <a:schemeClr val="bg1"/>
                </a:solidFill>
              </a:rPr>
              <a:t>Simple to implement</a:t>
            </a:r>
            <a:endParaRPr lang="en-US" sz="1800" dirty="0"/>
          </a:p>
          <a:p>
            <a:pPr marL="342900" indent="-342900">
              <a:spcAft>
                <a:spcPts val="1400"/>
              </a:spcAft>
              <a:buSzPct val="100000"/>
              <a:buChar char="•"/>
            </a:pPr>
            <a:r>
              <a:rPr lang="en-US" sz="1800" dirty="0">
                <a:solidFill>
                  <a:schemeClr val="bg1"/>
                </a:solidFill>
              </a:rPr>
              <a:t>Can suffer Belady's Anomaly</a:t>
            </a:r>
            <a:endParaRPr lang="en-US" sz="1800" dirty="0"/>
          </a:p>
        </p:txBody>
      </p:sp>
      <p:sp>
        <p:nvSpPr>
          <p:cNvPr id="7" name="algorithm-card-50"/>
          <p:cNvSpPr/>
          <p:nvPr/>
        </p:nvSpPr>
        <p:spPr>
          <a:xfrm>
            <a:off x="4322064" y="1371600"/>
            <a:ext cx="3544824" cy="4754880"/>
          </a:xfrm>
          <a:prstGeom prst="roundRect">
            <a:avLst>
              <a:gd name="adj" fmla="val 2580"/>
            </a:avLst>
          </a:prstGeom>
          <a:solidFill>
            <a:schemeClr val="tx2"/>
          </a:solidFill>
          <a:ln w="19050">
            <a:solidFill>
              <a:schemeClr val="accent3"/>
            </a:solidFill>
            <a:prstDash val="solid"/>
          </a:ln>
        </p:spPr>
      </p:sp>
      <p:sp>
        <p:nvSpPr>
          <p:cNvPr id="8" name="text-51"/>
          <p:cNvSpPr txBox="1"/>
          <p:nvPr/>
        </p:nvSpPr>
        <p:spPr>
          <a:xfrm>
            <a:off x="4596384" y="1600200"/>
            <a:ext cx="2996184" cy="502920"/>
          </a:xfrm>
          <a:prstGeom prst="rect">
            <a:avLst/>
          </a:prstGeom>
          <a:noFill/>
          <a:ln/>
        </p:spPr>
        <p:txBody>
          <a:bodyPr wrap="square" lIns="0" tIns="0" rIns="0" bIns="0" rtlCol="0" anchor="t"/>
          <a:lstStyle/>
          <a:p>
            <a:pPr indent="0" marL="0">
              <a:buNone/>
            </a:pPr>
            <a:r>
              <a:rPr lang="en-US" sz="2800" b="1" dirty="0">
                <a:solidFill>
                  <a:schemeClr val="accent3"/>
                </a:solidFill>
              </a:rPr>
              <a:t>LRU</a:t>
            </a:r>
            <a:endParaRPr lang="en-US" sz="2800" dirty="0"/>
          </a:p>
        </p:txBody>
      </p:sp>
      <p:sp>
        <p:nvSpPr>
          <p:cNvPr id="9" name="text-52"/>
          <p:cNvSpPr txBox="1"/>
          <p:nvPr/>
        </p:nvSpPr>
        <p:spPr>
          <a:xfrm>
            <a:off x="4596384" y="2148840"/>
            <a:ext cx="2996184" cy="320040"/>
          </a:xfrm>
          <a:prstGeom prst="rect">
            <a:avLst/>
          </a:prstGeom>
          <a:noFill/>
          <a:ln/>
        </p:spPr>
        <p:txBody>
          <a:bodyPr wrap="square" lIns="0" tIns="0" rIns="0" bIns="0" rtlCol="0" anchor="t"/>
          <a:lstStyle/>
          <a:p>
            <a:pPr indent="0" marL="0">
              <a:buNone/>
            </a:pPr>
            <a:r>
              <a:rPr lang="en-US" sz="1500" dirty="0">
                <a:solidFill>
                  <a:schemeClr val="bg2"/>
                </a:solidFill>
              </a:rPr>
              <a:t>Least Recently Used</a:t>
            </a:r>
            <a:endParaRPr lang="en-US" sz="1500" dirty="0"/>
          </a:p>
        </p:txBody>
      </p:sp>
      <p:sp>
        <p:nvSpPr>
          <p:cNvPr id="10" name="text-53"/>
          <p:cNvSpPr txBox="1"/>
          <p:nvPr/>
        </p:nvSpPr>
        <p:spPr>
          <a:xfrm>
            <a:off x="4596384" y="2743200"/>
            <a:ext cx="2996184" cy="32004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Replaces the page not used for the longest time</a:t>
            </a:r>
            <a:endParaRPr lang="en-US" sz="1800" dirty="0"/>
          </a:p>
          <a:p>
            <a:pPr marL="342900" indent="-342900">
              <a:spcAft>
                <a:spcPts val="1400"/>
              </a:spcAft>
              <a:buSzPct val="100000"/>
              <a:buChar char="•"/>
            </a:pPr>
            <a:r>
              <a:rPr lang="en-US" sz="1800" dirty="0">
                <a:solidFill>
                  <a:schemeClr val="bg1"/>
                </a:solidFill>
              </a:rPr>
              <a:t>Uses recent access history</a:t>
            </a:r>
            <a:endParaRPr lang="en-US" sz="1800" dirty="0"/>
          </a:p>
          <a:p>
            <a:pPr marL="342900" indent="-342900">
              <a:spcAft>
                <a:spcPts val="1400"/>
              </a:spcAft>
              <a:buSzPct val="100000"/>
              <a:buChar char="•"/>
            </a:pPr>
            <a:r>
              <a:rPr lang="en-US" sz="1800" dirty="0">
                <a:solidFill>
                  <a:schemeClr val="bg1"/>
                </a:solidFill>
              </a:rPr>
              <a:t>Does not suffer Belady's Anomaly</a:t>
            </a:r>
            <a:endParaRPr lang="en-US" sz="1800" dirty="0"/>
          </a:p>
        </p:txBody>
      </p:sp>
      <p:sp>
        <p:nvSpPr>
          <p:cNvPr id="11" name="algorithm-card-54"/>
          <p:cNvSpPr/>
          <p:nvPr/>
        </p:nvSpPr>
        <p:spPr>
          <a:xfrm>
            <a:off x="8095488" y="1371600"/>
            <a:ext cx="3544824" cy="4754880"/>
          </a:xfrm>
          <a:prstGeom prst="roundRect">
            <a:avLst>
              <a:gd name="adj" fmla="val 2580"/>
            </a:avLst>
          </a:prstGeom>
          <a:solidFill>
            <a:schemeClr val="tx2"/>
          </a:solidFill>
          <a:ln w="19050">
            <a:solidFill>
              <a:schemeClr val="accent1"/>
            </a:solidFill>
            <a:prstDash val="solid"/>
          </a:ln>
        </p:spPr>
      </p:sp>
      <p:sp>
        <p:nvSpPr>
          <p:cNvPr id="12" name="text-55"/>
          <p:cNvSpPr txBox="1"/>
          <p:nvPr/>
        </p:nvSpPr>
        <p:spPr>
          <a:xfrm>
            <a:off x="8369808" y="1600200"/>
            <a:ext cx="2996184" cy="502920"/>
          </a:xfrm>
          <a:prstGeom prst="rect">
            <a:avLst/>
          </a:prstGeom>
          <a:noFill/>
          <a:ln/>
        </p:spPr>
        <p:txBody>
          <a:bodyPr wrap="square" lIns="0" tIns="0" rIns="0" bIns="0" rtlCol="0" anchor="t"/>
          <a:lstStyle/>
          <a:p>
            <a:pPr indent="0" marL="0">
              <a:buNone/>
            </a:pPr>
            <a:r>
              <a:rPr lang="en-US" sz="2800" b="1" dirty="0">
                <a:solidFill>
                  <a:schemeClr val="accent1"/>
                </a:solidFill>
              </a:rPr>
              <a:t>Optimal</a:t>
            </a:r>
            <a:endParaRPr lang="en-US" sz="2800" dirty="0"/>
          </a:p>
        </p:txBody>
      </p:sp>
      <p:sp>
        <p:nvSpPr>
          <p:cNvPr id="13" name="text-56"/>
          <p:cNvSpPr txBox="1"/>
          <p:nvPr/>
        </p:nvSpPr>
        <p:spPr>
          <a:xfrm>
            <a:off x="8369808" y="2148840"/>
            <a:ext cx="2996184" cy="320040"/>
          </a:xfrm>
          <a:prstGeom prst="rect">
            <a:avLst/>
          </a:prstGeom>
          <a:noFill/>
          <a:ln/>
        </p:spPr>
        <p:txBody>
          <a:bodyPr wrap="square" lIns="0" tIns="0" rIns="0" bIns="0" rtlCol="0" anchor="t"/>
          <a:lstStyle/>
          <a:p>
            <a:pPr indent="0" marL="0">
              <a:buNone/>
            </a:pPr>
            <a:r>
              <a:rPr lang="en-US" sz="1500" dirty="0">
                <a:solidFill>
                  <a:schemeClr val="bg2"/>
                </a:solidFill>
              </a:rPr>
              <a:t>Farthest future use</a:t>
            </a:r>
            <a:endParaRPr lang="en-US" sz="1500" dirty="0"/>
          </a:p>
        </p:txBody>
      </p:sp>
      <p:sp>
        <p:nvSpPr>
          <p:cNvPr id="14" name="text-57"/>
          <p:cNvSpPr txBox="1"/>
          <p:nvPr/>
        </p:nvSpPr>
        <p:spPr>
          <a:xfrm>
            <a:off x="8369808" y="2743200"/>
            <a:ext cx="2996184" cy="32004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Replaces the page whose next use is farthest ahead, or never</a:t>
            </a:r>
            <a:endParaRPr lang="en-US" sz="1800" dirty="0"/>
          </a:p>
          <a:p>
            <a:pPr marL="342900" indent="-342900">
              <a:spcAft>
                <a:spcPts val="1400"/>
              </a:spcAft>
              <a:buSzPct val="100000"/>
              <a:buChar char="•"/>
            </a:pPr>
            <a:r>
              <a:rPr lang="en-US" sz="1800" dirty="0">
                <a:solidFill>
                  <a:schemeClr val="bg1"/>
                </a:solidFill>
              </a:rPr>
              <a:t>Gives the minimum possible faults</a:t>
            </a:r>
            <a:endParaRPr lang="en-US" sz="1800" dirty="0"/>
          </a:p>
          <a:p>
            <a:pPr marL="342900" indent="-342900">
              <a:spcAft>
                <a:spcPts val="1400"/>
              </a:spcAft>
              <a:buSzPct val="100000"/>
              <a:buChar char="•"/>
            </a:pPr>
            <a:r>
              <a:rPr lang="en-US" sz="1800" dirty="0">
                <a:solidFill>
                  <a:schemeClr val="bg1"/>
                </a:solidFill>
              </a:rPr>
              <a:t>Theoretical benchmark: needs future knowledge</a:t>
            </a:r>
            <a:endParaRPr lang="en-US" sz="18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Implementation and Technologies</a:t>
            </a:r>
            <a:endParaRPr lang="en-US" sz="3400" dirty="0"/>
          </a:p>
        </p:txBody>
      </p:sp>
      <p:sp>
        <p:nvSpPr>
          <p:cNvPr id="3" name="bullet-card-58"/>
          <p:cNvSpPr/>
          <p:nvPr/>
        </p:nvSpPr>
        <p:spPr>
          <a:xfrm>
            <a:off x="548640" y="1371600"/>
            <a:ext cx="5408676" cy="4754880"/>
          </a:xfrm>
          <a:prstGeom prst="roundRect">
            <a:avLst>
              <a:gd name="adj" fmla="val 1923"/>
            </a:avLst>
          </a:prstGeom>
          <a:solidFill>
            <a:schemeClr val="tx2"/>
          </a:solidFill>
          <a:ln/>
        </p:spPr>
      </p:sp>
      <p:sp>
        <p:nvSpPr>
          <p:cNvPr id="4" name="icon-circle-59"/>
          <p:cNvSpPr/>
          <p:nvPr/>
        </p:nvSpPr>
        <p:spPr>
          <a:xfrm>
            <a:off x="822960" y="1600200"/>
            <a:ext cx="640080" cy="640080"/>
          </a:xfrm>
          <a:prstGeom prst="ellipse">
            <a:avLst/>
          </a:prstGeom>
          <a:solidFill>
            <a:schemeClr val="accent1"/>
          </a:solidFill>
          <a:ln/>
        </p:spPr>
      </p:sp>
      <p:pic>
        <p:nvPicPr>
          <p:cNvPr id="5" name="icon-60"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61"/>
          <p:cNvSpPr txBox="1"/>
          <p:nvPr/>
        </p:nvSpPr>
        <p:spPr>
          <a:xfrm>
            <a:off x="1645920" y="1600200"/>
            <a:ext cx="4128516" cy="640080"/>
          </a:xfrm>
          <a:prstGeom prst="rect">
            <a:avLst/>
          </a:prstGeom>
          <a:noFill/>
          <a:ln/>
        </p:spPr>
        <p:txBody>
          <a:bodyPr wrap="square" lIns="0" tIns="0" rIns="0" bIns="0" rtlCol="0" anchor="ctr"/>
          <a:lstStyle/>
          <a:p>
            <a:pPr indent="0" marL="0">
              <a:buNone/>
            </a:pPr>
            <a:r>
              <a:rPr lang="en-US" sz="2100" b="1" dirty="0">
                <a:solidFill>
                  <a:schemeClr val="accent1"/>
                </a:solidFill>
              </a:rPr>
              <a:t>Technologies used</a:t>
            </a:r>
            <a:endParaRPr lang="en-US" sz="2100" dirty="0"/>
          </a:p>
        </p:txBody>
      </p:sp>
      <p:sp>
        <p:nvSpPr>
          <p:cNvPr id="7" name="text-62"/>
          <p:cNvSpPr txBox="1"/>
          <p:nvPr/>
        </p:nvSpPr>
        <p:spPr>
          <a:xfrm>
            <a:off x="868680" y="2514600"/>
            <a:ext cx="4768596" cy="3429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C programming language, compiled with gcc</a:t>
            </a:r>
            <a:endParaRPr lang="en-US" sz="1800" dirty="0"/>
          </a:p>
          <a:p>
            <a:pPr marL="342900" indent="-342900">
              <a:spcAft>
                <a:spcPts val="1000"/>
              </a:spcAft>
              <a:buSzPct val="100000"/>
              <a:buChar char="•"/>
            </a:pPr>
            <a:r>
              <a:rPr lang="en-US" sz="1800" dirty="0">
                <a:solidFill>
                  <a:schemeClr val="bg1"/>
                </a:solidFill>
              </a:rPr>
              <a:t>Linux / Ubuntu terminal</a:t>
            </a:r>
            <a:endParaRPr lang="en-US" sz="1800" dirty="0"/>
          </a:p>
          <a:p>
            <a:pPr marL="342900" indent="-342900">
              <a:spcAft>
                <a:spcPts val="1000"/>
              </a:spcAft>
              <a:buSzPct val="100000"/>
              <a:buChar char="•"/>
            </a:pPr>
            <a:r>
              <a:rPr lang="en-US" sz="1800" dirty="0">
                <a:solidFill>
                  <a:schemeClr val="bg1"/>
                </a:solidFill>
              </a:rPr>
              <a:t>Makefile: make, make test, make demo, make clean</a:t>
            </a:r>
            <a:endParaRPr lang="en-US" sz="1800" dirty="0"/>
          </a:p>
          <a:p>
            <a:pPr marL="342900" indent="-342900">
              <a:spcAft>
                <a:spcPts val="1000"/>
              </a:spcAft>
              <a:buSzPct val="100000"/>
              <a:buChar char="•"/>
            </a:pPr>
            <a:r>
              <a:rPr lang="en-US" sz="1800" dirty="0">
                <a:solidFill>
                  <a:schemeClr val="bg1"/>
                </a:solidFill>
              </a:rPr>
              <a:t>POSIX getopt for command-line options</a:t>
            </a:r>
            <a:endParaRPr lang="en-US" sz="1800" dirty="0"/>
          </a:p>
          <a:p>
            <a:pPr marL="342900" indent="-342900">
              <a:spcAft>
                <a:spcPts val="1000"/>
              </a:spcAft>
              <a:buSzPct val="100000"/>
              <a:buChar char="•"/>
            </a:pPr>
            <a:r>
              <a:rPr lang="en-US" sz="1800" dirty="0">
                <a:solidFill>
                  <a:schemeClr val="bg1"/>
                </a:solidFill>
              </a:rPr>
              <a:t>ANSI colors for the terminal visualization</a:t>
            </a:r>
            <a:endParaRPr lang="en-US" sz="1800" dirty="0"/>
          </a:p>
          <a:p>
            <a:pPr marL="342900" indent="-342900">
              <a:spcAft>
                <a:spcPts val="1000"/>
              </a:spcAft>
              <a:buSzPct val="100000"/>
              <a:buChar char="•"/>
            </a:pPr>
            <a:r>
              <a:rPr lang="en-US" sz="1800" dirty="0">
                <a:solidFill>
                  <a:schemeClr val="bg1"/>
                </a:solidFill>
              </a:rPr>
              <a:t>Bash script for automated tests</a:t>
            </a:r>
            <a:endParaRPr lang="en-US" sz="1800" dirty="0"/>
          </a:p>
        </p:txBody>
      </p:sp>
      <p:sp>
        <p:nvSpPr>
          <p:cNvPr id="8" name="bullet-card-63"/>
          <p:cNvSpPr/>
          <p:nvPr/>
        </p:nvSpPr>
        <p:spPr>
          <a:xfrm>
            <a:off x="6231636" y="1371600"/>
            <a:ext cx="5408676" cy="4754880"/>
          </a:xfrm>
          <a:prstGeom prst="roundRect">
            <a:avLst>
              <a:gd name="adj" fmla="val 1923"/>
            </a:avLst>
          </a:prstGeom>
          <a:solidFill>
            <a:schemeClr val="tx2"/>
          </a:solidFill>
          <a:ln/>
        </p:spPr>
      </p:sp>
      <p:sp>
        <p:nvSpPr>
          <p:cNvPr id="9" name="icon-circle-64"/>
          <p:cNvSpPr/>
          <p:nvPr/>
        </p:nvSpPr>
        <p:spPr>
          <a:xfrm>
            <a:off x="6505956" y="1600200"/>
            <a:ext cx="640080" cy="640080"/>
          </a:xfrm>
          <a:prstGeom prst="ellipse">
            <a:avLst/>
          </a:prstGeom>
          <a:solidFill>
            <a:schemeClr val="accent3"/>
          </a:solidFill>
          <a:ln/>
        </p:spPr>
      </p:sp>
      <p:pic>
        <p:nvPicPr>
          <p:cNvPr id="10" name="icon-65" descr="preencoded.png">    </p:cNvPr>
          <p:cNvPicPr>
            <a:picLocks noChangeAspect="1"/>
          </p:cNvPicPr>
          <p:nvPr/>
        </p:nvPicPr>
        <p:blipFill>
          <a:blip r:embed="rId2"/>
          <a:stretch>
            <a:fillRect/>
          </a:stretch>
        </p:blipFill>
        <p:spPr>
          <a:xfrm>
            <a:off x="6678778" y="1773022"/>
            <a:ext cx="294437" cy="294437"/>
          </a:xfrm>
          <a:prstGeom prst="rect">
            <a:avLst/>
          </a:prstGeom>
        </p:spPr>
      </p:pic>
      <p:sp>
        <p:nvSpPr>
          <p:cNvPr id="11" name="text-66"/>
          <p:cNvSpPr txBox="1"/>
          <p:nvPr/>
        </p:nvSpPr>
        <p:spPr>
          <a:xfrm>
            <a:off x="7328916" y="1600200"/>
            <a:ext cx="4128516" cy="640080"/>
          </a:xfrm>
          <a:prstGeom prst="rect">
            <a:avLst/>
          </a:prstGeom>
          <a:noFill/>
          <a:ln/>
        </p:spPr>
        <p:txBody>
          <a:bodyPr wrap="square" lIns="0" tIns="0" rIns="0" bIns="0" rtlCol="0" anchor="ctr"/>
          <a:lstStyle/>
          <a:p>
            <a:pPr indent="0" marL="0">
              <a:buNone/>
            </a:pPr>
            <a:r>
              <a:rPr lang="en-US" sz="2100" b="1" dirty="0">
                <a:solidFill>
                  <a:schemeClr val="accent3"/>
                </a:solidFill>
              </a:rPr>
              <a:t>Implementation</a:t>
            </a:r>
            <a:endParaRPr lang="en-US" sz="2100" dirty="0"/>
          </a:p>
        </p:txBody>
      </p:sp>
      <p:sp>
        <p:nvSpPr>
          <p:cNvPr id="12" name="text-67"/>
          <p:cNvSpPr txBox="1"/>
          <p:nvPr/>
        </p:nvSpPr>
        <p:spPr>
          <a:xfrm>
            <a:off x="6551676" y="2514600"/>
            <a:ext cx="4768596" cy="3429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Input handling and validation</a:t>
            </a:r>
            <a:endParaRPr lang="en-US" sz="1800" dirty="0"/>
          </a:p>
          <a:p>
            <a:pPr marL="342900" indent="-342900">
              <a:spcAft>
                <a:spcPts val="1200"/>
              </a:spcAft>
              <a:buSzPct val="100000"/>
              <a:buChar char="•"/>
            </a:pPr>
            <a:r>
              <a:rPr lang="en-US" sz="1800" dirty="0">
                <a:solidFill>
                  <a:schemeClr val="bg1"/>
                </a:solidFill>
              </a:rPr>
              <a:t>Frame management: page, load time, last-use time</a:t>
            </a:r>
            <a:endParaRPr lang="en-US" sz="1800" dirty="0"/>
          </a:p>
          <a:p>
            <a:pPr marL="342900" indent="-342900">
              <a:spcAft>
                <a:spcPts val="1200"/>
              </a:spcAft>
              <a:buSzPct val="100000"/>
              <a:buChar char="•"/>
            </a:pPr>
            <a:r>
              <a:rPr lang="en-US" sz="1800" dirty="0">
                <a:solidFill>
                  <a:schemeClr val="bg1"/>
                </a:solidFill>
              </a:rPr>
              <a:t>Replacement logic for FIFO, LRU and Optimal</a:t>
            </a:r>
            <a:endParaRPr lang="en-US" sz="1800" dirty="0"/>
          </a:p>
          <a:p>
            <a:pPr marL="342900" indent="-342900">
              <a:spcAft>
                <a:spcPts val="1200"/>
              </a:spcAft>
              <a:buSzPct val="100000"/>
              <a:buChar char="•"/>
            </a:pPr>
            <a:r>
              <a:rPr lang="en-US" sz="1800" dirty="0">
                <a:solidFill>
                  <a:schemeClr val="bg1"/>
                </a:solidFill>
              </a:rPr>
              <a:t>Hit, fault and hit-rate calculation (hits ÷ references)</a:t>
            </a:r>
            <a:endParaRPr lang="en-US" sz="1800" dirty="0"/>
          </a:p>
          <a:p>
            <a:pPr marL="342900" indent="-342900">
              <a:spcAft>
                <a:spcPts val="1200"/>
              </a:spcAft>
              <a:buSzPct val="100000"/>
              <a:buChar char="•"/>
            </a:pPr>
            <a:r>
              <a:rPr lang="en-US" sz="1800" dirty="0">
                <a:solidFill>
                  <a:schemeClr val="bg1"/>
                </a:solidFill>
              </a:rPr>
              <a:t>Terminal-based results comparison</a:t>
            </a:r>
            <a:endParaRPr lang="en-US" sz="18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Testing and Validation</a:t>
            </a:r>
            <a:endParaRPr lang="en-US" sz="3400" dirty="0"/>
          </a:p>
        </p:txBody>
      </p:sp>
      <p:sp>
        <p:nvSpPr>
          <p:cNvPr id="3" name="bullet-card-68"/>
          <p:cNvSpPr/>
          <p:nvPr/>
        </p:nvSpPr>
        <p:spPr>
          <a:xfrm>
            <a:off x="548640" y="1371600"/>
            <a:ext cx="6400800" cy="4754880"/>
          </a:xfrm>
          <a:prstGeom prst="roundRect">
            <a:avLst>
              <a:gd name="adj" fmla="val 1923"/>
            </a:avLst>
          </a:prstGeom>
          <a:solidFill>
            <a:schemeClr val="tx2"/>
          </a:solidFill>
          <a:ln/>
        </p:spPr>
      </p:sp>
      <p:sp>
        <p:nvSpPr>
          <p:cNvPr id="4" name="icon-circle-69"/>
          <p:cNvSpPr/>
          <p:nvPr/>
        </p:nvSpPr>
        <p:spPr>
          <a:xfrm>
            <a:off x="822960" y="1600200"/>
            <a:ext cx="640080" cy="640080"/>
          </a:xfrm>
          <a:prstGeom prst="ellipse">
            <a:avLst/>
          </a:prstGeom>
          <a:solidFill>
            <a:schemeClr val="accent4"/>
          </a:solidFill>
          <a:ln/>
        </p:spPr>
      </p:sp>
      <p:pic>
        <p:nvPicPr>
          <p:cNvPr id="5" name="icon-70"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71"/>
          <p:cNvSpPr txBox="1"/>
          <p:nvPr/>
        </p:nvSpPr>
        <p:spPr>
          <a:xfrm>
            <a:off x="1645920" y="1600200"/>
            <a:ext cx="5120640" cy="640080"/>
          </a:xfrm>
          <a:prstGeom prst="rect">
            <a:avLst/>
          </a:prstGeom>
          <a:noFill/>
          <a:ln/>
        </p:spPr>
        <p:txBody>
          <a:bodyPr wrap="square" lIns="0" tIns="0" rIns="0" bIns="0" rtlCol="0" anchor="ctr"/>
          <a:lstStyle/>
          <a:p>
            <a:pPr indent="0" marL="0">
              <a:buNone/>
            </a:pPr>
            <a:r>
              <a:rPr lang="en-US" sz="2100" b="1" dirty="0">
                <a:solidFill>
                  <a:schemeClr val="accent4"/>
                </a:solidFill>
              </a:rPr>
              <a:t>What is tested</a:t>
            </a:r>
            <a:endParaRPr lang="en-US" sz="2100" dirty="0"/>
          </a:p>
        </p:txBody>
      </p:sp>
      <p:sp>
        <p:nvSpPr>
          <p:cNvPr id="7" name="text-72"/>
          <p:cNvSpPr txBox="1"/>
          <p:nvPr/>
        </p:nvSpPr>
        <p:spPr>
          <a:xfrm>
            <a:off x="868680" y="2514600"/>
            <a:ext cx="5760720" cy="342900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chemeClr val="bg1"/>
                </a:solidFill>
              </a:rPr>
              <a:t>Cold-start page faults</a:t>
            </a:r>
            <a:endParaRPr lang="en-US" sz="1800" dirty="0"/>
          </a:p>
          <a:p>
            <a:pPr marL="342900" indent="-342900">
              <a:spcAft>
                <a:spcPts val="900"/>
              </a:spcAft>
              <a:buSzPct val="100000"/>
              <a:buChar char="•"/>
            </a:pPr>
            <a:r>
              <a:rPr lang="en-US" sz="1800" dirty="0">
                <a:solidFill>
                  <a:schemeClr val="bg1"/>
                </a:solidFill>
              </a:rPr>
              <a:t>Page hits</a:t>
            </a:r>
            <a:endParaRPr lang="en-US" sz="1800" dirty="0"/>
          </a:p>
          <a:p>
            <a:pPr marL="342900" indent="-342900">
              <a:spcAft>
                <a:spcPts val="900"/>
              </a:spcAft>
              <a:buSzPct val="100000"/>
              <a:buChar char="•"/>
            </a:pPr>
            <a:r>
              <a:rPr lang="en-US" sz="1800" dirty="0">
                <a:solidFill>
                  <a:schemeClr val="bg1"/>
                </a:solidFill>
              </a:rPr>
              <a:t>Replacement when all frames are full</a:t>
            </a:r>
            <a:endParaRPr lang="en-US" sz="1800" dirty="0"/>
          </a:p>
          <a:p>
            <a:pPr marL="342900" indent="-342900">
              <a:spcAft>
                <a:spcPts val="900"/>
              </a:spcAft>
              <a:buSzPct val="100000"/>
              <a:buChar char="•"/>
            </a:pPr>
            <a:r>
              <a:rPr lang="en-US" sz="1800" dirty="0">
                <a:solidFill>
                  <a:schemeClr val="bg1"/>
                </a:solidFill>
              </a:rPr>
              <a:t>Different frame counts and reference strings</a:t>
            </a:r>
            <a:endParaRPr lang="en-US" sz="1800" dirty="0"/>
          </a:p>
          <a:p>
            <a:pPr marL="342900" indent="-342900">
              <a:spcAft>
                <a:spcPts val="900"/>
              </a:spcAft>
              <a:buSzPct val="100000"/>
              <a:buChar char="•"/>
            </a:pPr>
            <a:r>
              <a:rPr lang="en-US" sz="1800" dirty="0">
                <a:solidFill>
                  <a:schemeClr val="bg1"/>
                </a:solidFill>
              </a:rPr>
              <a:t>Invalid input: 0 or 99 frames, bad reference string</a:t>
            </a:r>
            <a:endParaRPr lang="en-US" sz="1800" dirty="0"/>
          </a:p>
          <a:p>
            <a:pPr marL="342900" indent="-342900">
              <a:spcAft>
                <a:spcPts val="900"/>
              </a:spcAft>
              <a:buSzPct val="100000"/>
              <a:buChar char="•"/>
            </a:pPr>
            <a:r>
              <a:rPr lang="en-US" sz="1800" dirty="0">
                <a:solidFill>
                  <a:schemeClr val="bg1"/>
                </a:solidFill>
              </a:rPr>
              <a:t>Correct fault counts for FIFO, LRU and Optimal</a:t>
            </a:r>
            <a:endParaRPr lang="en-US" sz="1800" dirty="0"/>
          </a:p>
          <a:p>
            <a:pPr marL="342900" indent="-342900">
              <a:spcAft>
                <a:spcPts val="900"/>
              </a:spcAft>
              <a:buSzPct val="100000"/>
              <a:buChar char="•"/>
            </a:pPr>
            <a:r>
              <a:rPr lang="en-US" sz="1800" dirty="0">
                <a:solidFill>
                  <a:schemeClr val="bg1"/>
                </a:solidFill>
              </a:rPr>
              <a:t>Optimal never worse than FIFO or LRU on random runs</a:t>
            </a:r>
            <a:endParaRPr lang="en-US" sz="1800" dirty="0"/>
          </a:p>
        </p:txBody>
      </p:sp>
      <p:sp>
        <p:nvSpPr>
          <p:cNvPr id="8" name="bullet-card-73"/>
          <p:cNvSpPr/>
          <p:nvPr/>
        </p:nvSpPr>
        <p:spPr>
          <a:xfrm>
            <a:off x="7223760" y="1371600"/>
            <a:ext cx="4416552" cy="4754880"/>
          </a:xfrm>
          <a:prstGeom prst="roundRect">
            <a:avLst>
              <a:gd name="adj" fmla="val 2070"/>
            </a:avLst>
          </a:prstGeom>
          <a:solidFill>
            <a:schemeClr val="tx2"/>
          </a:solidFill>
          <a:ln/>
        </p:spPr>
      </p:sp>
      <p:sp>
        <p:nvSpPr>
          <p:cNvPr id="9" name="icon-circle-74"/>
          <p:cNvSpPr/>
          <p:nvPr/>
        </p:nvSpPr>
        <p:spPr>
          <a:xfrm>
            <a:off x="7498080" y="1600200"/>
            <a:ext cx="640080" cy="640080"/>
          </a:xfrm>
          <a:prstGeom prst="ellipse">
            <a:avLst/>
          </a:prstGeom>
          <a:solidFill>
            <a:schemeClr val="accent1"/>
          </a:solidFill>
          <a:ln/>
        </p:spPr>
      </p:sp>
      <p:pic>
        <p:nvPicPr>
          <p:cNvPr id="10" name="icon-75" descr="preencoded.png">    </p:cNvPr>
          <p:cNvPicPr>
            <a:picLocks noChangeAspect="1"/>
          </p:cNvPicPr>
          <p:nvPr/>
        </p:nvPicPr>
        <p:blipFill>
          <a:blip r:embed="rId2"/>
          <a:stretch>
            <a:fillRect/>
          </a:stretch>
        </p:blipFill>
        <p:spPr>
          <a:xfrm>
            <a:off x="7670902" y="1773022"/>
            <a:ext cx="294437" cy="294437"/>
          </a:xfrm>
          <a:prstGeom prst="rect">
            <a:avLst/>
          </a:prstGeom>
        </p:spPr>
      </p:pic>
      <p:sp>
        <p:nvSpPr>
          <p:cNvPr id="11" name="text-76"/>
          <p:cNvSpPr txBox="1"/>
          <p:nvPr/>
        </p:nvSpPr>
        <p:spPr>
          <a:xfrm>
            <a:off x="8321040" y="1600200"/>
            <a:ext cx="3136392" cy="640080"/>
          </a:xfrm>
          <a:prstGeom prst="rect">
            <a:avLst/>
          </a:prstGeom>
          <a:noFill/>
          <a:ln/>
        </p:spPr>
        <p:txBody>
          <a:bodyPr wrap="square" lIns="0" tIns="0" rIns="0" bIns="0" rtlCol="0" anchor="ctr"/>
          <a:lstStyle/>
          <a:p>
            <a:pPr indent="0" marL="0">
              <a:buNone/>
            </a:pPr>
            <a:r>
              <a:rPr lang="en-US" sz="2100" b="1" dirty="0">
                <a:solidFill>
                  <a:schemeClr val="accent1"/>
                </a:solidFill>
              </a:rPr>
              <a:t>Test suite</a:t>
            </a:r>
            <a:endParaRPr lang="en-US" sz="2100" dirty="0"/>
          </a:p>
        </p:txBody>
      </p:sp>
      <p:sp>
        <p:nvSpPr>
          <p:cNvPr id="12" name="text-77"/>
          <p:cNvSpPr txBox="1"/>
          <p:nvPr/>
        </p:nvSpPr>
        <p:spPr>
          <a:xfrm>
            <a:off x="7543800" y="2514600"/>
            <a:ext cx="3776472" cy="34290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make test runs tests/run_tests.sh</a:t>
            </a:r>
            <a:endParaRPr lang="en-US" sz="1800" dirty="0"/>
          </a:p>
          <a:p>
            <a:pPr marL="342900" indent="-342900">
              <a:spcAft>
                <a:spcPts val="1400"/>
              </a:spcAft>
              <a:buSzPct val="100000"/>
              <a:buChar char="•"/>
            </a:pPr>
            <a:r>
              <a:rPr lang="en-US" sz="1800" dirty="0">
                <a:solidFill>
                  <a:schemeClr val="bg1"/>
                </a:solidFill>
              </a:rPr>
              <a:t>12 automated tests</a:t>
            </a:r>
            <a:endParaRPr lang="en-US" sz="1800" dirty="0"/>
          </a:p>
          <a:p>
            <a:pPr marL="342900" indent="-342900">
              <a:spcAft>
                <a:spcPts val="1400"/>
              </a:spcAft>
              <a:buSzPct val="100000"/>
              <a:buChar char="•"/>
            </a:pPr>
            <a:r>
              <a:rPr lang="en-US" sz="1800" dirty="0">
                <a:solidFill>
                  <a:schemeClr val="bg1"/>
                </a:solidFill>
              </a:rPr>
              <a:t>Result: 12 passed, 0 failed</a:t>
            </a:r>
            <a:endParaRPr lang="en-US" sz="1800" dirty="0"/>
          </a:p>
          <a:p>
            <a:pPr marL="342900" indent="-342900">
              <a:spcAft>
                <a:spcPts val="1400"/>
              </a:spcAft>
              <a:buSzPct val="100000"/>
              <a:buChar char="•"/>
            </a:pPr>
            <a:r>
              <a:rPr lang="en-US" sz="1800" dirty="0">
                <a:solidFill>
                  <a:schemeClr val="bg1"/>
                </a:solidFill>
              </a:rPr>
              <a:t>Live demo of the test cases in the terminal</a:t>
            </a:r>
            <a:endParaRPr lang="en-US" sz="18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Results and Belady's Anomaly</a:t>
            </a:r>
            <a:endParaRPr lang="en-US" sz="3400" dirty="0"/>
          </a:p>
        </p:txBody>
      </p:sp>
      <p:sp>
        <p:nvSpPr>
          <p:cNvPr id="3" name="results-card-78"/>
          <p:cNvSpPr/>
          <p:nvPr/>
        </p:nvSpPr>
        <p:spPr>
          <a:xfrm>
            <a:off x="548640" y="1371600"/>
            <a:ext cx="5408676" cy="4754880"/>
          </a:xfrm>
          <a:prstGeom prst="roundRect">
            <a:avLst>
              <a:gd name="adj" fmla="val 1923"/>
            </a:avLst>
          </a:prstGeom>
          <a:solidFill>
            <a:schemeClr val="tx2"/>
          </a:solidFill>
          <a:ln/>
        </p:spPr>
      </p:sp>
      <p:sp>
        <p:nvSpPr>
          <p:cNvPr id="4" name="icon-circle-79"/>
          <p:cNvSpPr/>
          <p:nvPr/>
        </p:nvSpPr>
        <p:spPr>
          <a:xfrm>
            <a:off x="822960" y="1600200"/>
            <a:ext cx="640080" cy="640080"/>
          </a:xfrm>
          <a:prstGeom prst="ellipse">
            <a:avLst/>
          </a:prstGeom>
          <a:solidFill>
            <a:schemeClr val="accent1"/>
          </a:solidFill>
          <a:ln/>
        </p:spPr>
      </p:sp>
      <p:pic>
        <p:nvPicPr>
          <p:cNvPr id="5" name="icon-80"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81"/>
          <p:cNvSpPr txBox="1"/>
          <p:nvPr/>
        </p:nvSpPr>
        <p:spPr>
          <a:xfrm>
            <a:off x="1645920" y="1600200"/>
            <a:ext cx="4128516" cy="640080"/>
          </a:xfrm>
          <a:prstGeom prst="rect">
            <a:avLst/>
          </a:prstGeom>
          <a:noFill/>
          <a:ln/>
        </p:spPr>
        <p:txBody>
          <a:bodyPr wrap="square" lIns="0" tIns="0" rIns="0" bIns="0" rtlCol="0" anchor="ctr"/>
          <a:lstStyle/>
          <a:p>
            <a:pPr indent="0" marL="0">
              <a:buNone/>
            </a:pPr>
            <a:r>
              <a:rPr lang="en-US" sz="2100" b="1" dirty="0">
                <a:solidFill>
                  <a:schemeClr val="accent1"/>
                </a:solidFill>
              </a:rPr>
              <a:t>Algorithm comparison</a:t>
            </a:r>
            <a:endParaRPr lang="en-US" sz="2100" dirty="0"/>
          </a:p>
        </p:txBody>
      </p:sp>
      <p:sp>
        <p:nvSpPr>
          <p:cNvPr id="7" name="text-82"/>
          <p:cNvSpPr txBox="1"/>
          <p:nvPr/>
        </p:nvSpPr>
        <p:spPr>
          <a:xfrm>
            <a:off x="868680" y="2423160"/>
            <a:ext cx="4768596" cy="640080"/>
          </a:xfrm>
          <a:prstGeom prst="rect">
            <a:avLst/>
          </a:prstGeom>
          <a:noFill/>
          <a:ln/>
        </p:spPr>
        <p:txBody>
          <a:bodyPr wrap="square" lIns="0" tIns="0" rIns="0" bIns="0" rtlCol="0" anchor="t"/>
          <a:lstStyle/>
          <a:p>
            <a:pPr indent="0" marL="0">
              <a:buNone/>
            </a:pPr>
            <a:r>
              <a:rPr lang="en-US" sz="1300" dirty="0">
                <a:solidFill>
                  <a:schemeClr val="bg2"/>
                </a:solidFill>
              </a:rPr>
              <a:t>Input A: 3 frames, 20 references</a:t>
            </a:r>
            <a:endParaRPr lang="en-US" sz="1300" dirty="0"/>
          </a:p>
          <a:p>
            <a:pPr indent="0" marL="0">
              <a:buNone/>
            </a:pPr>
            <a:r>
              <a:rPr lang="en-US" sz="1300" dirty="0">
                <a:solidFill>
                  <a:schemeClr val="bg2"/>
                </a:solidFill>
              </a:rPr>
              <a:t>7 0 1 2 0 3 0 4 2 3 0 3 2 1 2 0 1 7 0 1</a:t>
            </a:r>
            <a:endParaRPr lang="en-US" sz="1300" dirty="0"/>
          </a:p>
        </p:txBody>
      </p:sp>
      <p:sp>
        <p:nvSpPr>
          <p:cNvPr id="8" name="text-83"/>
          <p:cNvSpPr txBox="1"/>
          <p:nvPr/>
        </p:nvSpPr>
        <p:spPr>
          <a:xfrm>
            <a:off x="868680" y="3246120"/>
            <a:ext cx="4768596"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FIFO: 15 faults, 5 hits, 25.0% hit rate</a:t>
            </a:r>
            <a:endParaRPr lang="en-US" sz="1800" dirty="0"/>
          </a:p>
          <a:p>
            <a:pPr marL="342900" indent="-342900">
              <a:spcAft>
                <a:spcPts val="1200"/>
              </a:spcAft>
              <a:buSzPct val="100000"/>
              <a:buChar char="•"/>
            </a:pPr>
            <a:r>
              <a:rPr lang="en-US" sz="1800" dirty="0">
                <a:solidFill>
                  <a:schemeClr val="bg1"/>
                </a:solidFill>
              </a:rPr>
              <a:t>LRU: 12 faults, 8 hits, 40.0% hit rate</a:t>
            </a:r>
            <a:endParaRPr lang="en-US" sz="1800" dirty="0"/>
          </a:p>
          <a:p>
            <a:pPr marL="342900" indent="-342900">
              <a:spcAft>
                <a:spcPts val="1200"/>
              </a:spcAft>
              <a:buSzPct val="100000"/>
              <a:buChar char="•"/>
            </a:pPr>
            <a:r>
              <a:rPr lang="en-US" sz="1800" dirty="0">
                <a:solidFill>
                  <a:schemeClr val="bg1"/>
                </a:solidFill>
              </a:rPr>
              <a:t>Optimal: 9 faults, 11 hits, 55.0% hit rate</a:t>
            </a:r>
            <a:endParaRPr lang="en-US" sz="1800" dirty="0"/>
          </a:p>
          <a:p>
            <a:pPr marL="342900" indent="-342900">
              <a:spcAft>
                <a:spcPts val="1200"/>
              </a:spcAft>
              <a:buSzPct val="100000"/>
              <a:buChar char="•"/>
            </a:pPr>
            <a:r>
              <a:rPr lang="en-US" sz="1800" dirty="0">
                <a:solidFill>
                  <a:schemeClr val="bg1"/>
                </a:solidFill>
              </a:rPr>
              <a:t>Optimal gives the fewest page faults</a:t>
            </a:r>
            <a:endParaRPr lang="en-US" sz="1800" dirty="0"/>
          </a:p>
        </p:txBody>
      </p:sp>
      <p:sp>
        <p:nvSpPr>
          <p:cNvPr id="9" name="belady-card-84"/>
          <p:cNvSpPr/>
          <p:nvPr/>
        </p:nvSpPr>
        <p:spPr>
          <a:xfrm>
            <a:off x="6231636" y="1371600"/>
            <a:ext cx="5408676" cy="4754880"/>
          </a:xfrm>
          <a:prstGeom prst="roundRect">
            <a:avLst>
              <a:gd name="adj" fmla="val 1923"/>
            </a:avLst>
          </a:prstGeom>
          <a:solidFill>
            <a:schemeClr val="tx2"/>
          </a:solidFill>
          <a:ln w="19050">
            <a:solidFill>
              <a:schemeClr val="accent5"/>
            </a:solidFill>
            <a:prstDash val="solid"/>
          </a:ln>
        </p:spPr>
      </p:sp>
      <p:sp>
        <p:nvSpPr>
          <p:cNvPr id="10" name="icon-circle-85"/>
          <p:cNvSpPr/>
          <p:nvPr/>
        </p:nvSpPr>
        <p:spPr>
          <a:xfrm>
            <a:off x="6505956" y="1600200"/>
            <a:ext cx="640080" cy="640080"/>
          </a:xfrm>
          <a:prstGeom prst="ellipse">
            <a:avLst/>
          </a:prstGeom>
          <a:solidFill>
            <a:schemeClr val="accent5"/>
          </a:solidFill>
          <a:ln/>
        </p:spPr>
      </p:sp>
      <p:pic>
        <p:nvPicPr>
          <p:cNvPr id="11" name="icon-86" descr="preencoded.png">    </p:cNvPr>
          <p:cNvPicPr>
            <a:picLocks noChangeAspect="1"/>
          </p:cNvPicPr>
          <p:nvPr/>
        </p:nvPicPr>
        <p:blipFill>
          <a:blip r:embed="rId2"/>
          <a:stretch>
            <a:fillRect/>
          </a:stretch>
        </p:blipFill>
        <p:spPr>
          <a:xfrm>
            <a:off x="6678778" y="1773022"/>
            <a:ext cx="294437" cy="294437"/>
          </a:xfrm>
          <a:prstGeom prst="rect">
            <a:avLst/>
          </a:prstGeom>
        </p:spPr>
      </p:pic>
      <p:sp>
        <p:nvSpPr>
          <p:cNvPr id="12" name="text-87"/>
          <p:cNvSpPr txBox="1"/>
          <p:nvPr/>
        </p:nvSpPr>
        <p:spPr>
          <a:xfrm>
            <a:off x="7328916" y="1600200"/>
            <a:ext cx="4128516" cy="640080"/>
          </a:xfrm>
          <a:prstGeom prst="rect">
            <a:avLst/>
          </a:prstGeom>
          <a:noFill/>
          <a:ln/>
        </p:spPr>
        <p:txBody>
          <a:bodyPr wrap="square" lIns="0" tIns="0" rIns="0" bIns="0" rtlCol="0" anchor="ctr"/>
          <a:lstStyle/>
          <a:p>
            <a:pPr indent="0" marL="0">
              <a:buNone/>
            </a:pPr>
            <a:r>
              <a:rPr lang="en-US" sz="2100" b="1" dirty="0">
                <a:solidFill>
                  <a:schemeClr val="accent5"/>
                </a:solidFill>
              </a:rPr>
              <a:t>Belady's Anomaly</a:t>
            </a:r>
            <a:endParaRPr lang="en-US" sz="2100" dirty="0"/>
          </a:p>
        </p:txBody>
      </p:sp>
      <p:sp>
        <p:nvSpPr>
          <p:cNvPr id="13" name="text-88"/>
          <p:cNvSpPr txBox="1"/>
          <p:nvPr/>
        </p:nvSpPr>
        <p:spPr>
          <a:xfrm>
            <a:off x="6551676" y="2423160"/>
            <a:ext cx="4768596" cy="640080"/>
          </a:xfrm>
          <a:prstGeom prst="rect">
            <a:avLst/>
          </a:prstGeom>
          <a:noFill/>
          <a:ln/>
        </p:spPr>
        <p:txBody>
          <a:bodyPr wrap="square" lIns="0" tIns="0" rIns="0" bIns="0" rtlCol="0" anchor="t"/>
          <a:lstStyle/>
          <a:p>
            <a:pPr indent="0" marL="0">
              <a:buNone/>
            </a:pPr>
            <a:r>
              <a:rPr lang="en-US" sz="1300" dirty="0">
                <a:solidFill>
                  <a:schemeClr val="bg2"/>
                </a:solidFill>
              </a:rPr>
              <a:t>Input B: 1 2 3 4 1 2 5 1 2 3 4 5 (12 references)</a:t>
            </a:r>
            <a:endParaRPr lang="en-US" sz="1300" dirty="0"/>
          </a:p>
        </p:txBody>
      </p:sp>
      <p:sp>
        <p:nvSpPr>
          <p:cNvPr id="14" name="text-89"/>
          <p:cNvSpPr txBox="1"/>
          <p:nvPr/>
        </p:nvSpPr>
        <p:spPr>
          <a:xfrm>
            <a:off x="6551676" y="3246120"/>
            <a:ext cx="4768596"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FIFO can fault more when frames increase</a:t>
            </a:r>
            <a:endParaRPr lang="en-US" sz="1800" dirty="0"/>
          </a:p>
          <a:p>
            <a:pPr marL="342900" indent="-342900">
              <a:spcAft>
                <a:spcPts val="1200"/>
              </a:spcAft>
              <a:buSzPct val="100000"/>
              <a:buChar char="•"/>
            </a:pPr>
            <a:r>
              <a:rPr lang="en-US" sz="1800" dirty="0">
                <a:solidFill>
                  <a:schemeClr val="bg1"/>
                </a:solidFill>
              </a:rPr>
              <a:t>FIFO, 3 frames: 9 faults</a:t>
            </a:r>
            <a:endParaRPr lang="en-US" sz="1800" dirty="0"/>
          </a:p>
          <a:p>
            <a:pPr marL="342900" indent="-342900">
              <a:spcAft>
                <a:spcPts val="1200"/>
              </a:spcAft>
              <a:buSzPct val="100000"/>
              <a:buChar char="•"/>
            </a:pPr>
            <a:r>
              <a:rPr lang="en-US" sz="1800" dirty="0">
                <a:solidFill>
                  <a:schemeClr val="bg1"/>
                </a:solidFill>
              </a:rPr>
              <a:t>FIFO, 4 frames: 10 faults</a:t>
            </a:r>
            <a:endParaRPr lang="en-US" sz="1800" dirty="0"/>
          </a:p>
          <a:p>
            <a:pPr marL="342900" indent="-342900">
              <a:spcAft>
                <a:spcPts val="1200"/>
              </a:spcAft>
              <a:buSzPct val="100000"/>
              <a:buChar char="•"/>
            </a:pPr>
            <a:r>
              <a:rPr lang="en-US" sz="1800" dirty="0">
                <a:solidFill>
                  <a:schemeClr val="bg1"/>
                </a:solidFill>
              </a:rPr>
              <a:t>LRU (10 → 8) and Optimal (7 → 6) improve on the same input</a:t>
            </a:r>
            <a:endParaRPr lang="en-US" sz="18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Impact, Limitations and Future Scope</a:t>
            </a:r>
            <a:endParaRPr lang="en-US" sz="3400" dirty="0"/>
          </a:p>
        </p:txBody>
      </p:sp>
      <p:sp>
        <p:nvSpPr>
          <p:cNvPr id="3" name="column-card-90"/>
          <p:cNvSpPr/>
          <p:nvPr/>
        </p:nvSpPr>
        <p:spPr>
          <a:xfrm>
            <a:off x="548640" y="1371600"/>
            <a:ext cx="3544824" cy="4572000"/>
          </a:xfrm>
          <a:prstGeom prst="roundRect">
            <a:avLst>
              <a:gd name="adj" fmla="val 2580"/>
            </a:avLst>
          </a:prstGeom>
          <a:solidFill>
            <a:schemeClr val="tx2"/>
          </a:solidFill>
          <a:ln/>
        </p:spPr>
      </p:sp>
      <p:sp>
        <p:nvSpPr>
          <p:cNvPr id="4" name="icon-circle-91"/>
          <p:cNvSpPr/>
          <p:nvPr/>
        </p:nvSpPr>
        <p:spPr>
          <a:xfrm>
            <a:off x="822960" y="1600200"/>
            <a:ext cx="685800" cy="685800"/>
          </a:xfrm>
          <a:prstGeom prst="ellipse">
            <a:avLst/>
          </a:prstGeom>
          <a:solidFill>
            <a:schemeClr val="accent1"/>
          </a:solidFill>
          <a:ln/>
        </p:spPr>
      </p:sp>
      <p:pic>
        <p:nvPicPr>
          <p:cNvPr id="5" name="icon-92" descr="preencoded.png">    </p:cNvPr>
          <p:cNvPicPr>
            <a:picLocks noChangeAspect="1"/>
          </p:cNvPicPr>
          <p:nvPr/>
        </p:nvPicPr>
        <p:blipFill>
          <a:blip r:embed="rId1"/>
          <a:stretch>
            <a:fillRect/>
          </a:stretch>
        </p:blipFill>
        <p:spPr>
          <a:xfrm>
            <a:off x="1008126" y="1785366"/>
            <a:ext cx="315468" cy="315468"/>
          </a:xfrm>
          <a:prstGeom prst="rect">
            <a:avLst/>
          </a:prstGeom>
        </p:spPr>
      </p:pic>
      <p:sp>
        <p:nvSpPr>
          <p:cNvPr id="6" name="text-93"/>
          <p:cNvSpPr txBox="1"/>
          <p:nvPr/>
        </p:nvSpPr>
        <p:spPr>
          <a:xfrm>
            <a:off x="1691640" y="1600200"/>
            <a:ext cx="2264664" cy="685800"/>
          </a:xfrm>
          <a:prstGeom prst="rect">
            <a:avLst/>
          </a:prstGeom>
          <a:noFill/>
          <a:ln/>
        </p:spPr>
        <p:txBody>
          <a:bodyPr wrap="square" lIns="0" tIns="0" rIns="0" bIns="0" rtlCol="0" anchor="ctr"/>
          <a:lstStyle/>
          <a:p>
            <a:pPr indent="0" marL="0">
              <a:buNone/>
            </a:pPr>
            <a:r>
              <a:rPr lang="en-US" sz="1900" b="1" dirty="0">
                <a:solidFill>
                  <a:schemeClr val="accent1"/>
                </a:solidFill>
              </a:rPr>
              <a:t>Impact</a:t>
            </a:r>
            <a:endParaRPr lang="en-US" sz="1900" dirty="0"/>
          </a:p>
        </p:txBody>
      </p:sp>
      <p:sp>
        <p:nvSpPr>
          <p:cNvPr id="7" name="text-94"/>
          <p:cNvSpPr txBox="1"/>
          <p:nvPr/>
        </p:nvSpPr>
        <p:spPr>
          <a:xfrm>
            <a:off x="822960" y="2697480"/>
            <a:ext cx="2996184" cy="2926080"/>
          </a:xfrm>
          <a:prstGeom prst="rect">
            <a:avLst/>
          </a:prstGeom>
          <a:noFill/>
          <a:ln/>
        </p:spPr>
        <p:txBody>
          <a:bodyPr wrap="square" lIns="0" tIns="0" rIns="0" bIns="0" rtlCol="0" anchor="t"/>
          <a:lstStyle/>
          <a:p>
            <a:pPr marL="342900" indent="-342900">
              <a:spcAft>
                <a:spcPts val="1300"/>
              </a:spcAft>
              <a:buSzPct val="100000"/>
              <a:buChar char="•"/>
            </a:pPr>
            <a:r>
              <a:rPr lang="en-US" sz="1800" dirty="0">
                <a:solidFill>
                  <a:schemeClr val="bg1"/>
                </a:solidFill>
              </a:rPr>
              <a:t>Improves understanding of virtual memory</a:t>
            </a:r>
            <a:endParaRPr lang="en-US" sz="1800" dirty="0"/>
          </a:p>
          <a:p>
            <a:pPr marL="342900" indent="-342900">
              <a:spcAft>
                <a:spcPts val="1300"/>
              </a:spcAft>
              <a:buSzPct val="100000"/>
              <a:buChar char="•"/>
            </a:pPr>
            <a:r>
              <a:rPr lang="en-US" sz="1800" dirty="0">
                <a:solidFill>
                  <a:schemeClr val="bg1"/>
                </a:solidFill>
              </a:rPr>
              <a:t>Demonstrates how replacement policies behave</a:t>
            </a:r>
            <a:endParaRPr lang="en-US" sz="1800" dirty="0"/>
          </a:p>
          <a:p>
            <a:pPr marL="342900" indent="-342900">
              <a:spcAft>
                <a:spcPts val="1300"/>
              </a:spcAft>
              <a:buSzPct val="100000"/>
              <a:buChar char="•"/>
            </a:pPr>
            <a:r>
              <a:rPr lang="en-US" sz="1800" dirty="0">
                <a:solidFill>
                  <a:schemeClr val="bg1"/>
                </a:solidFill>
              </a:rPr>
              <a:t>Enables practical comparison of strategies</a:t>
            </a:r>
            <a:endParaRPr lang="en-US" sz="1800" dirty="0"/>
          </a:p>
          <a:p>
            <a:pPr marL="342900" indent="-342900">
              <a:spcAft>
                <a:spcPts val="1300"/>
              </a:spcAft>
              <a:buSzPct val="100000"/>
              <a:buChar char="•"/>
            </a:pPr>
            <a:r>
              <a:rPr lang="en-US" sz="1800" dirty="0">
                <a:solidFill>
                  <a:schemeClr val="bg1"/>
                </a:solidFill>
              </a:rPr>
              <a:t>Supports OS learning through interactive simulation</a:t>
            </a:r>
            <a:endParaRPr lang="en-US" sz="1800" dirty="0"/>
          </a:p>
        </p:txBody>
      </p:sp>
      <p:sp>
        <p:nvSpPr>
          <p:cNvPr id="8" name="column-card-95"/>
          <p:cNvSpPr/>
          <p:nvPr/>
        </p:nvSpPr>
        <p:spPr>
          <a:xfrm>
            <a:off x="4322064" y="1371600"/>
            <a:ext cx="3544824" cy="4572000"/>
          </a:xfrm>
          <a:prstGeom prst="roundRect">
            <a:avLst>
              <a:gd name="adj" fmla="val 2580"/>
            </a:avLst>
          </a:prstGeom>
          <a:solidFill>
            <a:schemeClr val="tx2"/>
          </a:solidFill>
          <a:ln/>
        </p:spPr>
      </p:sp>
      <p:sp>
        <p:nvSpPr>
          <p:cNvPr id="9" name="icon-circle-96"/>
          <p:cNvSpPr/>
          <p:nvPr/>
        </p:nvSpPr>
        <p:spPr>
          <a:xfrm>
            <a:off x="4596384" y="1600200"/>
            <a:ext cx="685800" cy="685800"/>
          </a:xfrm>
          <a:prstGeom prst="ellipse">
            <a:avLst/>
          </a:prstGeom>
          <a:solidFill>
            <a:schemeClr val="accent6"/>
          </a:solidFill>
          <a:ln/>
        </p:spPr>
      </p:sp>
      <p:pic>
        <p:nvPicPr>
          <p:cNvPr id="10" name="icon-97" descr="preencoded.png">    </p:cNvPr>
          <p:cNvPicPr>
            <a:picLocks noChangeAspect="1"/>
          </p:cNvPicPr>
          <p:nvPr/>
        </p:nvPicPr>
        <p:blipFill>
          <a:blip r:embed="rId2"/>
          <a:stretch>
            <a:fillRect/>
          </a:stretch>
        </p:blipFill>
        <p:spPr>
          <a:xfrm>
            <a:off x="4781550" y="1785366"/>
            <a:ext cx="315468" cy="315468"/>
          </a:xfrm>
          <a:prstGeom prst="rect">
            <a:avLst/>
          </a:prstGeom>
        </p:spPr>
      </p:pic>
      <p:sp>
        <p:nvSpPr>
          <p:cNvPr id="11" name="text-98"/>
          <p:cNvSpPr txBox="1"/>
          <p:nvPr/>
        </p:nvSpPr>
        <p:spPr>
          <a:xfrm>
            <a:off x="5465064" y="1600200"/>
            <a:ext cx="2264664" cy="685800"/>
          </a:xfrm>
          <a:prstGeom prst="rect">
            <a:avLst/>
          </a:prstGeom>
          <a:noFill/>
          <a:ln/>
        </p:spPr>
        <p:txBody>
          <a:bodyPr wrap="square" lIns="0" tIns="0" rIns="0" bIns="0" rtlCol="0" anchor="ctr"/>
          <a:lstStyle/>
          <a:p>
            <a:pPr indent="0" marL="0">
              <a:buNone/>
            </a:pPr>
            <a:r>
              <a:rPr lang="en-US" sz="1900" b="1" dirty="0">
                <a:solidFill>
                  <a:schemeClr val="accent6"/>
                </a:solidFill>
              </a:rPr>
              <a:t>Limitations</a:t>
            </a:r>
            <a:endParaRPr lang="en-US" sz="1900" dirty="0"/>
          </a:p>
        </p:txBody>
      </p:sp>
      <p:sp>
        <p:nvSpPr>
          <p:cNvPr id="12" name="text-99"/>
          <p:cNvSpPr txBox="1"/>
          <p:nvPr/>
        </p:nvSpPr>
        <p:spPr>
          <a:xfrm>
            <a:off x="4596384" y="2697480"/>
            <a:ext cx="2996184" cy="2926080"/>
          </a:xfrm>
          <a:prstGeom prst="rect">
            <a:avLst/>
          </a:prstGeom>
          <a:noFill/>
          <a:ln/>
        </p:spPr>
        <p:txBody>
          <a:bodyPr wrap="square" lIns="0" tIns="0" rIns="0" bIns="0" rtlCol="0" anchor="t"/>
          <a:lstStyle/>
          <a:p>
            <a:pPr marL="342900" indent="-342900">
              <a:spcAft>
                <a:spcPts val="1300"/>
              </a:spcAft>
              <a:buSzPct val="100000"/>
              <a:buChar char="•"/>
            </a:pPr>
            <a:r>
              <a:rPr lang="en-US" sz="1800" dirty="0">
                <a:solidFill>
                  <a:schemeClr val="bg1"/>
                </a:solidFill>
              </a:rPr>
              <a:t>Simulates page replacement; does not control real RAM</a:t>
            </a:r>
            <a:endParaRPr lang="en-US" sz="1800" dirty="0"/>
          </a:p>
          <a:p>
            <a:pPr marL="342900" indent="-342900">
              <a:spcAft>
                <a:spcPts val="1300"/>
              </a:spcAft>
              <a:buSzPct val="100000"/>
              <a:buChar char="•"/>
            </a:pPr>
            <a:r>
              <a:rPr lang="en-US" sz="1800" dirty="0">
                <a:solidFill>
                  <a:schemeClr val="bg1"/>
                </a:solidFill>
              </a:rPr>
              <a:t>Optimal requires future-reference knowledge</a:t>
            </a:r>
            <a:endParaRPr lang="en-US" sz="1800" dirty="0"/>
          </a:p>
          <a:p>
            <a:pPr marL="342900" indent="-342900">
              <a:spcAft>
                <a:spcPts val="1300"/>
              </a:spcAft>
              <a:buSzPct val="100000"/>
              <a:buChar char="•"/>
            </a:pPr>
            <a:r>
              <a:rPr lang="en-US" sz="1800" dirty="0">
                <a:solidFill>
                  <a:schemeClr val="bg1"/>
                </a:solidFill>
              </a:rPr>
              <a:t>Results depend on the reference string and frame count</a:t>
            </a:r>
            <a:endParaRPr lang="en-US" sz="1800" dirty="0"/>
          </a:p>
        </p:txBody>
      </p:sp>
      <p:sp>
        <p:nvSpPr>
          <p:cNvPr id="13" name="column-card-100"/>
          <p:cNvSpPr/>
          <p:nvPr/>
        </p:nvSpPr>
        <p:spPr>
          <a:xfrm>
            <a:off x="8095488" y="1371600"/>
            <a:ext cx="3544824" cy="4572000"/>
          </a:xfrm>
          <a:prstGeom prst="roundRect">
            <a:avLst>
              <a:gd name="adj" fmla="val 2580"/>
            </a:avLst>
          </a:prstGeom>
          <a:solidFill>
            <a:schemeClr val="tx2"/>
          </a:solidFill>
          <a:ln w="19050">
            <a:solidFill>
              <a:schemeClr val="accent3"/>
            </a:solidFill>
            <a:prstDash val="dash"/>
          </a:ln>
        </p:spPr>
      </p:sp>
      <p:sp>
        <p:nvSpPr>
          <p:cNvPr id="14" name="icon-circle-101"/>
          <p:cNvSpPr/>
          <p:nvPr/>
        </p:nvSpPr>
        <p:spPr>
          <a:xfrm>
            <a:off x="8369808" y="1600200"/>
            <a:ext cx="685800" cy="685800"/>
          </a:xfrm>
          <a:prstGeom prst="ellipse">
            <a:avLst/>
          </a:prstGeom>
          <a:solidFill>
            <a:schemeClr val="accent3"/>
          </a:solidFill>
          <a:ln/>
        </p:spPr>
      </p:sp>
      <p:pic>
        <p:nvPicPr>
          <p:cNvPr id="15" name="icon-102" descr="preencoded.png">    </p:cNvPr>
          <p:cNvPicPr>
            <a:picLocks noChangeAspect="1"/>
          </p:cNvPicPr>
          <p:nvPr/>
        </p:nvPicPr>
        <p:blipFill>
          <a:blip r:embed="rId3"/>
          <a:stretch>
            <a:fillRect/>
          </a:stretch>
        </p:blipFill>
        <p:spPr>
          <a:xfrm>
            <a:off x="8554974" y="1785366"/>
            <a:ext cx="315468" cy="315468"/>
          </a:xfrm>
          <a:prstGeom prst="rect">
            <a:avLst/>
          </a:prstGeom>
        </p:spPr>
      </p:pic>
      <p:sp>
        <p:nvSpPr>
          <p:cNvPr id="16" name="text-103"/>
          <p:cNvSpPr txBox="1"/>
          <p:nvPr/>
        </p:nvSpPr>
        <p:spPr>
          <a:xfrm>
            <a:off x="9238488" y="1600200"/>
            <a:ext cx="2264664" cy="685800"/>
          </a:xfrm>
          <a:prstGeom prst="rect">
            <a:avLst/>
          </a:prstGeom>
          <a:noFill/>
          <a:ln/>
        </p:spPr>
        <p:txBody>
          <a:bodyPr wrap="square" lIns="0" tIns="0" rIns="0" bIns="0" rtlCol="0" anchor="ctr"/>
          <a:lstStyle/>
          <a:p>
            <a:pPr indent="0" marL="0">
              <a:buNone/>
            </a:pPr>
            <a:r>
              <a:rPr lang="en-US" sz="1900" b="1" dirty="0">
                <a:solidFill>
                  <a:schemeClr val="accent3"/>
                </a:solidFill>
              </a:rPr>
              <a:t>Future enhancements</a:t>
            </a:r>
            <a:endParaRPr lang="en-US" sz="1900" dirty="0"/>
          </a:p>
        </p:txBody>
      </p:sp>
      <p:sp>
        <p:nvSpPr>
          <p:cNvPr id="17" name="planned-tag-104"/>
          <p:cNvSpPr/>
          <p:nvPr/>
        </p:nvSpPr>
        <p:spPr>
          <a:xfrm>
            <a:off x="8369808" y="2468880"/>
            <a:ext cx="2514600" cy="310896"/>
          </a:xfrm>
          <a:prstGeom prst="roundRect">
            <a:avLst>
              <a:gd name="adj" fmla="val 50000"/>
            </a:avLst>
          </a:prstGeom>
          <a:solidFill>
            <a:schemeClr val="accent3">
              <a:alpha val="25000"/>
            </a:schemeClr>
          </a:solidFill>
          <a:ln/>
        </p:spPr>
      </p:sp>
      <p:sp>
        <p:nvSpPr>
          <p:cNvPr id="18" name="text-105"/>
          <p:cNvSpPr txBox="1"/>
          <p:nvPr/>
        </p:nvSpPr>
        <p:spPr>
          <a:xfrm>
            <a:off x="8369808" y="2468880"/>
            <a:ext cx="2514600" cy="310896"/>
          </a:xfrm>
          <a:prstGeom prst="rect">
            <a:avLst/>
          </a:prstGeom>
          <a:noFill/>
          <a:ln/>
        </p:spPr>
        <p:txBody>
          <a:bodyPr wrap="square" lIns="0" tIns="0" rIns="0" bIns="0" rtlCol="0" anchor="ctr"/>
          <a:lstStyle/>
          <a:p>
            <a:pPr algn="ctr" indent="0" marL="0">
              <a:buNone/>
            </a:pPr>
            <a:r>
              <a:rPr lang="en-US" sz="1100" b="1" spc="100" kern="0" dirty="0">
                <a:solidFill>
                  <a:schemeClr val="accent3"/>
                </a:solidFill>
              </a:rPr>
              <a:t>PLANNED — NOT IMPLEMENTED</a:t>
            </a:r>
            <a:endParaRPr lang="en-US" sz="1100" dirty="0"/>
          </a:p>
        </p:txBody>
      </p:sp>
      <p:sp>
        <p:nvSpPr>
          <p:cNvPr id="19" name="text-106"/>
          <p:cNvSpPr txBox="1"/>
          <p:nvPr/>
        </p:nvSpPr>
        <p:spPr>
          <a:xfrm>
            <a:off x="8369808" y="3017520"/>
            <a:ext cx="2996184" cy="2926080"/>
          </a:xfrm>
          <a:prstGeom prst="rect">
            <a:avLst/>
          </a:prstGeom>
          <a:noFill/>
          <a:ln/>
        </p:spPr>
        <p:txBody>
          <a:bodyPr wrap="square" lIns="0" tIns="0" rIns="0" bIns="0" rtlCol="0" anchor="t"/>
          <a:lstStyle/>
          <a:p>
            <a:pPr marL="342900" indent="-342900">
              <a:spcAft>
                <a:spcPts val="1300"/>
              </a:spcAft>
              <a:buSzPct val="100000"/>
              <a:buChar char="•"/>
            </a:pPr>
            <a:r>
              <a:rPr lang="en-US" sz="1800" dirty="0">
                <a:solidFill>
                  <a:schemeClr val="bg1"/>
                </a:solidFill>
              </a:rPr>
              <a:t>Clock / Second Chance algorithm</a:t>
            </a:r>
            <a:endParaRPr lang="en-US" sz="1800" dirty="0"/>
          </a:p>
          <a:p>
            <a:pPr marL="342900" indent="-342900">
              <a:spcAft>
                <a:spcPts val="1300"/>
              </a:spcAft>
              <a:buSzPct val="100000"/>
              <a:buChar char="•"/>
            </a:pPr>
            <a:r>
              <a:rPr lang="en-US" sz="1800" dirty="0">
                <a:solidFill>
                  <a:schemeClr val="bg1"/>
                </a:solidFill>
              </a:rPr>
              <a:t>More detailed eviction explanations</a:t>
            </a:r>
            <a:endParaRPr lang="en-US" sz="1800" dirty="0"/>
          </a:p>
          <a:p>
            <a:pPr marL="342900" indent="-342900">
              <a:spcAft>
                <a:spcPts val="1300"/>
              </a:spcAft>
              <a:buSzPct val="100000"/>
              <a:buChar char="•"/>
            </a:pPr>
            <a:r>
              <a:rPr lang="en-US" sz="1800" dirty="0">
                <a:solidFill>
                  <a:schemeClr val="bg1"/>
                </a:solidFill>
              </a:rPr>
              <a:t>Additional automated tests</a:t>
            </a:r>
            <a:endParaRPr lang="en-US" sz="1800" dirty="0"/>
          </a:p>
          <a:p>
            <a:pPr marL="342900" indent="-342900">
              <a:spcAft>
                <a:spcPts val="1300"/>
              </a:spcAft>
              <a:buSzPct val="100000"/>
              <a:buChar char="•"/>
            </a:pPr>
            <a:r>
              <a:rPr lang="en-US" sz="1800" dirty="0">
                <a:solidFill>
                  <a:schemeClr val="bg1"/>
                </a:solidFill>
              </a:rPr>
              <a:t>Enhanced terminal visualization</a:t>
            </a:r>
            <a:endParaRPr lang="en-US" sz="1800" dirty="0"/>
          </a:p>
        </p:txBody>
      </p:sp>
      <p:sp>
        <p:nvSpPr>
          <p:cNvPr id="20" name="text-107"/>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200" dirty="0">
                <a:solidFill>
                  <a:schemeClr val="bg2"/>
                </a:solidFill>
              </a:rPr>
              <a:t>Impact and limitations describe the current program. Future enhancements are not part of the current build.</a:t>
            </a:r>
            <a:endParaRPr lang="en-US" sz="12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bullet-card-108"/>
          <p:cNvSpPr/>
          <p:nvPr/>
        </p:nvSpPr>
        <p:spPr>
          <a:xfrm>
            <a:off x="548640" y="1371600"/>
            <a:ext cx="6492240" cy="4023360"/>
          </a:xfrm>
          <a:prstGeom prst="roundRect">
            <a:avLst>
              <a:gd name="adj" fmla="val 2273"/>
            </a:avLst>
          </a:prstGeom>
          <a:solidFill>
            <a:schemeClr val="tx2"/>
          </a:solidFill>
          <a:ln/>
        </p:spPr>
      </p:sp>
      <p:sp>
        <p:nvSpPr>
          <p:cNvPr id="4" name="icon-circle-109"/>
          <p:cNvSpPr/>
          <p:nvPr/>
        </p:nvSpPr>
        <p:spPr>
          <a:xfrm>
            <a:off x="822960" y="1600200"/>
            <a:ext cx="640080" cy="640080"/>
          </a:xfrm>
          <a:prstGeom prst="ellipse">
            <a:avLst/>
          </a:prstGeom>
          <a:solidFill>
            <a:schemeClr val="accent1"/>
          </a:solidFill>
          <a:ln/>
        </p:spPr>
      </p:sp>
      <p:pic>
        <p:nvPicPr>
          <p:cNvPr id="5" name="icon-110" descr="preencoded.png">    </p:cNvPr>
          <p:cNvPicPr>
            <a:picLocks noChangeAspect="1"/>
          </p:cNvPicPr>
          <p:nvPr/>
        </p:nvPicPr>
        <p:blipFill>
          <a:blip r:embed="rId1"/>
          <a:stretch>
            <a:fillRect/>
          </a:stretch>
        </p:blipFill>
        <p:spPr>
          <a:xfrm>
            <a:off x="995782" y="1773022"/>
            <a:ext cx="294437" cy="294437"/>
          </a:xfrm>
          <a:prstGeom prst="rect">
            <a:avLst/>
          </a:prstGeom>
        </p:spPr>
      </p:pic>
      <p:sp>
        <p:nvSpPr>
          <p:cNvPr id="6" name="text-111"/>
          <p:cNvSpPr txBox="1"/>
          <p:nvPr/>
        </p:nvSpPr>
        <p:spPr>
          <a:xfrm>
            <a:off x="1645920" y="1600200"/>
            <a:ext cx="5212080" cy="640080"/>
          </a:xfrm>
          <a:prstGeom prst="rect">
            <a:avLst/>
          </a:prstGeom>
          <a:noFill/>
          <a:ln/>
        </p:spPr>
        <p:txBody>
          <a:bodyPr wrap="square" lIns="0" tIns="0" rIns="0" bIns="0" rtlCol="0" anchor="ctr"/>
          <a:lstStyle/>
          <a:p>
            <a:pPr indent="0" marL="0">
              <a:buNone/>
            </a:pPr>
            <a:r>
              <a:rPr lang="en-US" sz="2100" b="1" dirty="0">
                <a:solidFill>
                  <a:schemeClr val="accent1"/>
                </a:solidFill>
              </a:rPr>
              <a:t>Summary</a:t>
            </a:r>
            <a:endParaRPr lang="en-US" sz="2100" dirty="0"/>
          </a:p>
        </p:txBody>
      </p:sp>
      <p:sp>
        <p:nvSpPr>
          <p:cNvPr id="7" name="text-112"/>
          <p:cNvSpPr txBox="1"/>
          <p:nvPr/>
        </p:nvSpPr>
        <p:spPr>
          <a:xfrm>
            <a:off x="868680" y="2514600"/>
            <a:ext cx="5852160" cy="26974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Problem: choosing which page to evict when frames are full</a:t>
            </a:r>
            <a:endParaRPr lang="en-US" sz="1800" dirty="0"/>
          </a:p>
          <a:p>
            <a:pPr marL="342900" indent="-342900">
              <a:spcAft>
                <a:spcPts val="1200"/>
              </a:spcAft>
              <a:buSzPct val="100000"/>
              <a:buChar char="•"/>
            </a:pPr>
            <a:r>
              <a:rPr lang="en-US" sz="1800" dirty="0">
                <a:solidFill>
                  <a:schemeClr val="bg1"/>
                </a:solidFill>
              </a:rPr>
              <a:t>Solution: a C simulator for Linux that shows every step</a:t>
            </a:r>
            <a:endParaRPr lang="en-US" sz="1800" dirty="0"/>
          </a:p>
          <a:p>
            <a:pPr marL="342900" indent="-342900">
              <a:spcAft>
                <a:spcPts val="1200"/>
              </a:spcAft>
              <a:buSzPct val="100000"/>
              <a:buChar char="•"/>
            </a:pPr>
            <a:r>
              <a:rPr lang="en-US" sz="1800" dirty="0">
                <a:solidFill>
                  <a:schemeClr val="bg1"/>
                </a:solidFill>
              </a:rPr>
              <a:t>Algorithms: FIFO, LRU and Optimal</a:t>
            </a:r>
            <a:endParaRPr lang="en-US" sz="1800" dirty="0"/>
          </a:p>
          <a:p>
            <a:pPr marL="342900" indent="-342900">
              <a:spcAft>
                <a:spcPts val="1200"/>
              </a:spcAft>
              <a:buSzPct val="100000"/>
              <a:buChar char="•"/>
            </a:pPr>
            <a:r>
              <a:rPr lang="en-US" sz="1800" dirty="0">
                <a:solidFill>
                  <a:schemeClr val="bg1"/>
                </a:solidFill>
              </a:rPr>
              <a:t>Why it matters: simulation, testing and performance comparison</a:t>
            </a:r>
            <a:endParaRPr lang="en-US" sz="1800" dirty="0"/>
          </a:p>
        </p:txBody>
      </p:sp>
      <p:sp>
        <p:nvSpPr>
          <p:cNvPr id="8" name="thank-you-panel-113"/>
          <p:cNvSpPr/>
          <p:nvPr/>
        </p:nvSpPr>
        <p:spPr>
          <a:xfrm>
            <a:off x="7315200" y="1371600"/>
            <a:ext cx="4325112" cy="4023360"/>
          </a:xfrm>
          <a:prstGeom prst="roundRect">
            <a:avLst>
              <a:gd name="adj" fmla="val 2273"/>
            </a:avLst>
          </a:prstGeom>
          <a:solidFill>
            <a:schemeClr val="tx2"/>
          </a:solidFill>
          <a:ln/>
        </p:spPr>
      </p:sp>
      <p:sp>
        <p:nvSpPr>
          <p:cNvPr id="9" name="text-114"/>
          <p:cNvSpPr txBox="1"/>
          <p:nvPr/>
        </p:nvSpPr>
        <p:spPr>
          <a:xfrm>
            <a:off x="7635240" y="1691640"/>
            <a:ext cx="3749040" cy="1645920"/>
          </a:xfrm>
          <a:prstGeom prst="rect">
            <a:avLst/>
          </a:prstGeom>
          <a:noFill/>
          <a:ln/>
        </p:spPr>
        <p:txBody>
          <a:bodyPr wrap="square" lIns="0" tIns="0" rIns="0" bIns="0" rtlCol="0" anchor="t"/>
          <a:lstStyle/>
          <a:p>
            <a:pPr indent="0" marL="0">
              <a:buNone/>
            </a:pPr>
            <a:r>
              <a:rPr lang="en-US" sz="3200" b="1" dirty="0">
                <a:solidFill>
                  <a:schemeClr val="bg1"/>
                </a:solidFill>
              </a:rPr>
              <a:t>Thank You —</a:t>
            </a:r>
            <a:endParaRPr lang="en-US" sz="1400" dirty="0"/>
          </a:p>
          <a:p>
            <a:pPr indent="0" marL="0">
              <a:buNone/>
            </a:pPr>
            <a:r>
              <a:rPr lang="en-US" sz="4400" b="1" dirty="0">
                <a:solidFill>
                  <a:schemeClr val="accent1"/>
                </a:solidFill>
              </a:rPr>
              <a:t>Questions?</a:t>
            </a:r>
            <a:endParaRPr lang="en-US" sz="1400" dirty="0"/>
          </a:p>
        </p:txBody>
      </p:sp>
      <p:sp>
        <p:nvSpPr>
          <p:cNvPr id="10" name="text-115"/>
          <p:cNvSpPr txBox="1"/>
          <p:nvPr/>
        </p:nvSpPr>
        <p:spPr>
          <a:xfrm>
            <a:off x="7635240" y="3566160"/>
            <a:ext cx="3749040" cy="155448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Team TechTitans</a:t>
            </a:r>
            <a:endParaRPr lang="en-US" sz="1500" dirty="0"/>
          </a:p>
          <a:p>
            <a:pPr indent="0" marL="0">
              <a:spcAft>
                <a:spcPts val="300"/>
              </a:spcAft>
              <a:buNone/>
            </a:pPr>
            <a:r>
              <a:rPr lang="en-US" sz="1500" dirty="0">
                <a:solidFill>
                  <a:schemeClr val="bg1"/>
                </a:solidFill>
              </a:rPr>
              <a:t>Billakanti Siri</a:t>
            </a:r>
            <a:endParaRPr lang="en-US" sz="1500" dirty="0"/>
          </a:p>
          <a:p>
            <a:pPr indent="0" marL="0">
              <a:spcAft>
                <a:spcPts val="300"/>
              </a:spcAft>
              <a:buNone/>
            </a:pPr>
            <a:r>
              <a:rPr lang="en-US" sz="1500" dirty="0">
                <a:solidFill>
                  <a:schemeClr val="bg1"/>
                </a:solidFill>
              </a:rPr>
              <a:t>Bhavana Kondakrindi</a:t>
            </a:r>
            <a:endParaRPr lang="en-US" sz="1500" dirty="0"/>
          </a:p>
          <a:p>
            <a:pPr indent="0" marL="0">
              <a:spcAft>
                <a:spcPts val="300"/>
              </a:spcAft>
              <a:buNone/>
            </a:pPr>
            <a:r>
              <a:rPr lang="en-US" sz="1500" dirty="0">
                <a:solidFill>
                  <a:schemeClr val="bg1"/>
                </a:solidFill>
              </a:rPr>
              <a:t>T. HimaBindu Sree</a:t>
            </a:r>
            <a:endParaRPr lang="en-US" sz="1500" dirty="0"/>
          </a:p>
        </p:txBody>
      </p:sp>
      <p:sp>
        <p:nvSpPr>
          <p:cNvPr id="11" name="github-strip-116"/>
          <p:cNvSpPr/>
          <p:nvPr/>
        </p:nvSpPr>
        <p:spPr>
          <a:xfrm>
            <a:off x="548640" y="5577840"/>
            <a:ext cx="11091672" cy="640080"/>
          </a:xfrm>
          <a:prstGeom prst="roundRect">
            <a:avLst>
              <a:gd name="adj" fmla="val 14286"/>
            </a:avLst>
          </a:prstGeom>
          <a:solidFill>
            <a:schemeClr val="tx2"/>
          </a:solidFill>
          <a:ln/>
        </p:spPr>
      </p:sp>
      <p:sp>
        <p:nvSpPr>
          <p:cNvPr id="12" name="icon-circle-117"/>
          <p:cNvSpPr/>
          <p:nvPr/>
        </p:nvSpPr>
        <p:spPr>
          <a:xfrm>
            <a:off x="731520" y="5650992"/>
            <a:ext cx="493776" cy="493776"/>
          </a:xfrm>
          <a:prstGeom prst="ellipse">
            <a:avLst/>
          </a:prstGeom>
          <a:solidFill>
            <a:schemeClr val="accent3"/>
          </a:solidFill>
          <a:ln/>
        </p:spPr>
      </p:sp>
      <p:pic>
        <p:nvPicPr>
          <p:cNvPr id="13" name="icon-118" descr="preencoded.png">    </p:cNvPr>
          <p:cNvPicPr>
            <a:picLocks noChangeAspect="1"/>
          </p:cNvPicPr>
          <p:nvPr/>
        </p:nvPicPr>
        <p:blipFill>
          <a:blip r:embed="rId2"/>
          <a:stretch>
            <a:fillRect/>
          </a:stretch>
        </p:blipFill>
        <p:spPr>
          <a:xfrm>
            <a:off x="864840" y="5784312"/>
            <a:ext cx="227137" cy="227137"/>
          </a:xfrm>
          <a:prstGeom prst="rect">
            <a:avLst/>
          </a:prstGeom>
        </p:spPr>
      </p:pic>
      <p:sp>
        <p:nvSpPr>
          <p:cNvPr id="14" name="text-119"/>
          <p:cNvSpPr txBox="1"/>
          <p:nvPr/>
        </p:nvSpPr>
        <p:spPr>
          <a:xfrm>
            <a:off x="1417320" y="5577840"/>
            <a:ext cx="9994392" cy="640080"/>
          </a:xfrm>
          <a:prstGeom prst="rect">
            <a:avLst/>
          </a:prstGeom>
          <a:noFill/>
          <a:ln/>
        </p:spPr>
        <p:txBody>
          <a:bodyPr wrap="square" lIns="0" tIns="0" rIns="0" bIns="0" rtlCol="0" anchor="ctr"/>
          <a:lstStyle/>
          <a:p>
            <a:pPr indent="0" marL="0">
              <a:buNone/>
            </a:pPr>
            <a:r>
              <a:rPr lang="en-US" sz="1600" b="1" dirty="0">
                <a:solidFill>
                  <a:schemeClr val="bg1"/>
                </a:solidFill>
              </a:rPr>
              <a:t>GitHub: </a:t>
            </a:r>
            <a:pPr indent="0" marL="0">
              <a:buNone/>
            </a:pPr>
            <a:r>
              <a:rPr lang="en-US" sz="1600" u="sng" dirty="0">
                <a:solidFill>
                  <a:schemeClr val="accent1"/>
                </a:solidFill>
                <a:hlinkClick r:id="rId3" invalidUrl="" action="" tgtFrame="" tooltip="TechTitans_OSSP on GitHub" history="1" highlightClick="0" endSnd="0">
                  <a:extLst>
                    <a:ext uri="{A12FA001-AC4F-418D-AE19-62706E023703}">
                      <ahyp:hlinkClr xmlns:ahyp="http://schemas.microsoft.com/office/drawing/2018/hyperlinkcolor" val="tx"/>
                    </a:ext>
                  </a:extLst>
                </a:hlinkClick>
              </a:rPr>
              <a:t>https://github.com/tallurihimabindu342-design/TechTitans_OSSP</a:t>
            </a:r>
            <a:endParaRPr lang="en-US" sz="1600" dirty="0"/>
          </a:p>
        </p:txBody>
      </p:sp>
      <p:sp>
        <p:nvSpPr>
          <p:cNvPr id="25" name="Slide Number Placeholder 0"/>
          <p:cNvSpPr>
            <a:spLocks noGrp="1"/>
          </p:cNvSpPr>
          <p:nvPr>
            <p:ph type="sldNum" sz="quarter" idx="4294967295"/>
          </p:nvPr>
        </p:nvSpPr>
        <p:spPr>
          <a:xfrm>
            <a:off x="11155680" y="6419088"/>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TechTitans Dark">
  <a:themeElements>
    <a:clrScheme name="TechTitans Dark">
      <a:dk1>
        <a:srgbClr val="0B1220"/>
      </a:dk1>
      <a:lt1>
        <a:srgbClr val="F1F5F9"/>
      </a:lt1>
      <a:dk2>
        <a:srgbClr val="17243F"/>
      </a:dk2>
      <a:lt2>
        <a:srgbClr val="94A3B8"/>
      </a:lt2>
      <a:accent1>
        <a:srgbClr val="22D3EE"/>
      </a:accent1>
      <a:accent2>
        <a:srgbClr val="3B82F6"/>
      </a:accent2>
      <a:accent3>
        <a:srgbClr val="A78BFA"/>
      </a:accent3>
      <a:accent4>
        <a:srgbClr val="34D399"/>
      </a:accent4>
      <a:accent5>
        <a:srgbClr val="F87171"/>
      </a:accent5>
      <a:accent6>
        <a:srgbClr val="FBBF24"/>
      </a:accent6>
      <a:hlink>
        <a:srgbClr val="22D3EE"/>
      </a:hlink>
      <a:folHlink>
        <a:srgbClr val="A78BFA"/>
      </a:folHlink>
    </a:clrScheme>
    <a:fontScheme name="TechTitans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Memory Page Replacement Visualizer</dc:title>
  <dc:subject>Operating Systems and System Programming project</dc:subject>
  <dc:creator>Team TechTitans</dc:creator>
  <cp:lastModifiedBy>Team TechTitans</cp:lastModifiedBy>
  <cp:revision>1</cp:revision>
  <dcterms:created xsi:type="dcterms:W3CDTF">2026-10-16T15:14:52Z</dcterms:created>
  <dcterms:modified xsi:type="dcterms:W3CDTF">2026-10-16T15:14:52Z</dcterms:modified>
</cp:coreProperties>
</file>